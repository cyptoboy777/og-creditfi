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7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103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66344" cy="274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466344" cy="27432"/>
          </a:xfrm>
          <a:prstGeom prst="rect">
            <a:avLst/>
          </a:prstGeom>
          <a:solidFill>
            <a:srgbClr val="01C9F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0"/>
            <a:ext cx="466344" cy="27432"/>
          </a:xfrm>
          <a:prstGeom prst="rect">
            <a:avLst/>
          </a:prstGeom>
          <a:solidFill>
            <a:srgbClr val="02C3FD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0"/>
            <a:ext cx="466344" cy="27432"/>
          </a:xfrm>
          <a:prstGeom prst="rect">
            <a:avLst/>
          </a:prstGeom>
          <a:solidFill>
            <a:srgbClr val="02BDFC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0"/>
            <a:ext cx="466344" cy="27432"/>
          </a:xfrm>
          <a:prstGeom prst="rect">
            <a:avLst/>
          </a:prstGeom>
          <a:solidFill>
            <a:srgbClr val="03B8F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0"/>
            <a:ext cx="466344" cy="27432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466344" cy="27432"/>
          </a:xfrm>
          <a:prstGeom prst="rect">
            <a:avLst/>
          </a:prstGeom>
          <a:solidFill>
            <a:srgbClr val="05A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0"/>
            <a:ext cx="466344" cy="27432"/>
          </a:xfrm>
          <a:prstGeom prst="rect">
            <a:avLst/>
          </a:prstGeom>
          <a:solidFill>
            <a:srgbClr val="05A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0"/>
            <a:ext cx="466344" cy="27432"/>
          </a:xfrm>
          <a:prstGeom prst="rect">
            <a:avLst/>
          </a:prstGeom>
          <a:solidFill>
            <a:srgbClr val="06A0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0"/>
            <a:ext cx="466344" cy="27432"/>
          </a:xfrm>
          <a:prstGeom prst="rect">
            <a:avLst/>
          </a:prstGeom>
          <a:solidFill>
            <a:srgbClr val="079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0"/>
            <a:ext cx="466344" cy="27432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0"/>
            <a:ext cx="466344" cy="27432"/>
          </a:xfrm>
          <a:prstGeom prst="rect">
            <a:avLst/>
          </a:prstGeom>
          <a:solidFill>
            <a:srgbClr val="088F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0"/>
            <a:ext cx="466344" cy="27432"/>
          </a:xfrm>
          <a:prstGeom prst="rect">
            <a:avLst/>
          </a:prstGeom>
          <a:solidFill>
            <a:srgbClr val="0989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0"/>
            <a:ext cx="466344" cy="27432"/>
          </a:xfrm>
          <a:prstGeom prst="rect">
            <a:avLst/>
          </a:prstGeom>
          <a:solidFill>
            <a:srgbClr val="0A8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0"/>
            <a:ext cx="466344" cy="27432"/>
          </a:xfrm>
          <a:prstGeom prst="rect">
            <a:avLst/>
          </a:prstGeom>
          <a:solidFill>
            <a:srgbClr val="0B7D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0"/>
            <a:ext cx="466344" cy="27432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0"/>
            <a:ext cx="466344" cy="27432"/>
          </a:xfrm>
          <a:prstGeom prst="rect">
            <a:avLst/>
          </a:prstGeom>
          <a:solidFill>
            <a:srgbClr val="0C71E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0"/>
            <a:ext cx="466344" cy="27432"/>
          </a:xfrm>
          <a:prstGeom prst="rect">
            <a:avLst/>
          </a:prstGeom>
          <a:solidFill>
            <a:srgbClr val="0D6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0"/>
            <a:ext cx="466344" cy="27432"/>
          </a:xfrm>
          <a:prstGeom prst="rect">
            <a:avLst/>
          </a:prstGeom>
          <a:solidFill>
            <a:srgbClr val="0E6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0"/>
            <a:ext cx="466344" cy="27432"/>
          </a:xfrm>
          <a:prstGeom prst="rect">
            <a:avLst/>
          </a:prstGeom>
          <a:solidFill>
            <a:srgbClr val="0E60E9"/>
          </a:solidFill>
          <a:ln/>
        </p:spPr>
      </p:sp>
      <p:sp>
        <p:nvSpPr>
          <p:cNvPr id="24" name="Shape 22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001428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F5AE8">
              <a:alpha val="1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74320"/>
            <a:ext cx="2926080" cy="274320"/>
          </a:xfrm>
          <a:prstGeom prst="rect">
            <a:avLst/>
          </a:prstGeom>
          <a:solidFill>
            <a:srgbClr val="101C2C"/>
          </a:solidFill>
          <a:ln w="7620">
            <a:solidFill>
              <a:srgbClr val="2136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926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0G BRIDGE BUILDATHON · WAVE 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713232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2633472" y="713232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</a:t>
            </a:r>
            <a:endParaRPr lang="en-US" sz="7200" dirty="0"/>
          </a:p>
        </p:txBody>
      </p:sp>
      <p:sp>
        <p:nvSpPr>
          <p:cNvPr id="30" name="Text 28"/>
          <p:cNvSpPr/>
          <p:nvPr/>
        </p:nvSpPr>
        <p:spPr>
          <a:xfrm>
            <a:off x="457200" y="2011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BDD5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AI-powered on-chain credit protocol for AI agents.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BDD5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entirely on 0G's modular infrastructure.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2944368"/>
            <a:ext cx="1645920" cy="256032"/>
          </a:xfrm>
          <a:prstGeom prst="rect">
            <a:avLst/>
          </a:prstGeom>
          <a:solidFill>
            <a:srgbClr val="00CFFF">
              <a:alpha val="12000"/>
            </a:srgbClr>
          </a:solidFill>
          <a:ln w="6350">
            <a:solidFill>
              <a:srgbClr val="00CF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944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0G Chain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67712" y="2944368"/>
            <a:ext cx="1645920" cy="256032"/>
          </a:xfrm>
          <a:prstGeom prst="rect">
            <a:avLst/>
          </a:prstGeom>
          <a:solidFill>
            <a:srgbClr val="00EF9F">
              <a:alpha val="12000"/>
            </a:srgbClr>
          </a:solidFill>
          <a:ln w="6350">
            <a:solidFill>
              <a:srgbClr val="00EF9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67712" y="2944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0G Compute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78224" y="2944368"/>
            <a:ext cx="1645920" cy="256032"/>
          </a:xfrm>
          <a:prstGeom prst="rect">
            <a:avLst/>
          </a:prstGeom>
          <a:solidFill>
            <a:srgbClr val="FFB020">
              <a:alpha val="12000"/>
            </a:srgbClr>
          </a:solidFill>
          <a:ln w="6350">
            <a:solidFill>
              <a:srgbClr val="FFB020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78224" y="2944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0G Storage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888736" y="2944368"/>
            <a:ext cx="1645920" cy="256032"/>
          </a:xfrm>
          <a:prstGeom prst="rect">
            <a:avLst/>
          </a:prstGeom>
          <a:solidFill>
            <a:srgbClr val="8B2FFF">
              <a:alpha val="12000"/>
            </a:srgbClr>
          </a:solidFill>
          <a:ln w="6350">
            <a:solidFill>
              <a:srgbClr val="8B2FFF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8736" y="2944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0G Pay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390144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381000" y="4892040"/>
            <a:ext cx="390144" cy="22860"/>
          </a:xfrm>
          <a:prstGeom prst="rect">
            <a:avLst/>
          </a:prstGeom>
          <a:solidFill>
            <a:srgbClr val="01CAFE"/>
          </a:solidFill>
          <a:ln/>
        </p:spPr>
      </p:sp>
      <p:sp>
        <p:nvSpPr>
          <p:cNvPr id="41" name="Shape 39"/>
          <p:cNvSpPr/>
          <p:nvPr/>
        </p:nvSpPr>
        <p:spPr>
          <a:xfrm>
            <a:off x="762000" y="4892040"/>
            <a:ext cx="390144" cy="22860"/>
          </a:xfrm>
          <a:prstGeom prst="rect">
            <a:avLst/>
          </a:prstGeom>
          <a:solidFill>
            <a:srgbClr val="01C5FD"/>
          </a:solidFill>
          <a:ln/>
        </p:spPr>
      </p:sp>
      <p:sp>
        <p:nvSpPr>
          <p:cNvPr id="42" name="Shape 40"/>
          <p:cNvSpPr/>
          <p:nvPr/>
        </p:nvSpPr>
        <p:spPr>
          <a:xfrm>
            <a:off x="1143000" y="4892040"/>
            <a:ext cx="390144" cy="22860"/>
          </a:xfrm>
          <a:prstGeom prst="rect">
            <a:avLst/>
          </a:prstGeom>
          <a:solidFill>
            <a:srgbClr val="02C0FC"/>
          </a:solidFill>
          <a:ln/>
        </p:spPr>
      </p:sp>
      <p:sp>
        <p:nvSpPr>
          <p:cNvPr id="43" name="Shape 41"/>
          <p:cNvSpPr/>
          <p:nvPr/>
        </p:nvSpPr>
        <p:spPr>
          <a:xfrm>
            <a:off x="1524000" y="4892040"/>
            <a:ext cx="390144" cy="22860"/>
          </a:xfrm>
          <a:prstGeom prst="rect">
            <a:avLst/>
          </a:prstGeom>
          <a:solidFill>
            <a:srgbClr val="03BCFB"/>
          </a:solidFill>
          <a:ln/>
        </p:spPr>
      </p:sp>
      <p:sp>
        <p:nvSpPr>
          <p:cNvPr id="44" name="Shape 42"/>
          <p:cNvSpPr/>
          <p:nvPr/>
        </p:nvSpPr>
        <p:spPr>
          <a:xfrm>
            <a:off x="1905000" y="4892040"/>
            <a:ext cx="390144" cy="22860"/>
          </a:xfrm>
          <a:prstGeom prst="rect">
            <a:avLst/>
          </a:prstGeom>
          <a:solidFill>
            <a:srgbClr val="03B7FA"/>
          </a:solidFill>
          <a:ln/>
        </p:spPr>
      </p:sp>
      <p:sp>
        <p:nvSpPr>
          <p:cNvPr id="45" name="Shape 43"/>
          <p:cNvSpPr/>
          <p:nvPr/>
        </p:nvSpPr>
        <p:spPr>
          <a:xfrm>
            <a:off x="2286000" y="4892040"/>
            <a:ext cx="390144" cy="22860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46" name="Shape 44"/>
          <p:cNvSpPr/>
          <p:nvPr/>
        </p:nvSpPr>
        <p:spPr>
          <a:xfrm>
            <a:off x="2667000" y="4892040"/>
            <a:ext cx="390144" cy="22860"/>
          </a:xfrm>
          <a:prstGeom prst="rect">
            <a:avLst/>
          </a:prstGeom>
          <a:solidFill>
            <a:srgbClr val="04ADF8"/>
          </a:solidFill>
          <a:ln/>
        </p:spPr>
      </p:sp>
      <p:sp>
        <p:nvSpPr>
          <p:cNvPr id="47" name="Shape 45"/>
          <p:cNvSpPr/>
          <p:nvPr/>
        </p:nvSpPr>
        <p:spPr>
          <a:xfrm>
            <a:off x="3048000" y="4892040"/>
            <a:ext cx="390144" cy="22860"/>
          </a:xfrm>
          <a:prstGeom prst="rect">
            <a:avLst/>
          </a:prstGeom>
          <a:solidFill>
            <a:srgbClr val="05A8F7"/>
          </a:solidFill>
          <a:ln/>
        </p:spPr>
      </p:sp>
      <p:sp>
        <p:nvSpPr>
          <p:cNvPr id="48" name="Shape 46"/>
          <p:cNvSpPr/>
          <p:nvPr/>
        </p:nvSpPr>
        <p:spPr>
          <a:xfrm>
            <a:off x="3429000" y="4892040"/>
            <a:ext cx="390144" cy="22860"/>
          </a:xfrm>
          <a:prstGeom prst="rect">
            <a:avLst/>
          </a:prstGeom>
          <a:solidFill>
            <a:srgbClr val="06A3F6"/>
          </a:solidFill>
          <a:ln/>
        </p:spPr>
      </p:sp>
      <p:sp>
        <p:nvSpPr>
          <p:cNvPr id="49" name="Shape 47"/>
          <p:cNvSpPr/>
          <p:nvPr/>
        </p:nvSpPr>
        <p:spPr>
          <a:xfrm>
            <a:off x="3810000" y="4892040"/>
            <a:ext cx="390144" cy="22860"/>
          </a:xfrm>
          <a:prstGeom prst="rect">
            <a:avLst/>
          </a:prstGeom>
          <a:solidFill>
            <a:srgbClr val="069EF5"/>
          </a:solidFill>
          <a:ln/>
        </p:spPr>
      </p:sp>
      <p:sp>
        <p:nvSpPr>
          <p:cNvPr id="50" name="Shape 48"/>
          <p:cNvSpPr/>
          <p:nvPr/>
        </p:nvSpPr>
        <p:spPr>
          <a:xfrm>
            <a:off x="4191000" y="4892040"/>
            <a:ext cx="390144" cy="22860"/>
          </a:xfrm>
          <a:prstGeom prst="rect">
            <a:avLst/>
          </a:prstGeom>
          <a:solidFill>
            <a:srgbClr val="0799F4"/>
          </a:solidFill>
          <a:ln/>
        </p:spPr>
      </p:sp>
      <p:sp>
        <p:nvSpPr>
          <p:cNvPr id="51" name="Shape 49"/>
          <p:cNvSpPr/>
          <p:nvPr/>
        </p:nvSpPr>
        <p:spPr>
          <a:xfrm>
            <a:off x="4572000" y="4892040"/>
            <a:ext cx="390144" cy="22860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52" name="Shape 50"/>
          <p:cNvSpPr/>
          <p:nvPr/>
        </p:nvSpPr>
        <p:spPr>
          <a:xfrm>
            <a:off x="4953000" y="4892040"/>
            <a:ext cx="390144" cy="22860"/>
          </a:xfrm>
          <a:prstGeom prst="rect">
            <a:avLst/>
          </a:prstGeom>
          <a:solidFill>
            <a:srgbClr val="0890F3"/>
          </a:solidFill>
          <a:ln/>
        </p:spPr>
      </p:sp>
      <p:sp>
        <p:nvSpPr>
          <p:cNvPr id="53" name="Shape 51"/>
          <p:cNvSpPr/>
          <p:nvPr/>
        </p:nvSpPr>
        <p:spPr>
          <a:xfrm>
            <a:off x="5334000" y="4892040"/>
            <a:ext cx="390144" cy="22860"/>
          </a:xfrm>
          <a:prstGeom prst="rect">
            <a:avLst/>
          </a:prstGeom>
          <a:solidFill>
            <a:srgbClr val="098BF2"/>
          </a:solidFill>
          <a:ln/>
        </p:spPr>
      </p:sp>
      <p:sp>
        <p:nvSpPr>
          <p:cNvPr id="54" name="Shape 52"/>
          <p:cNvSpPr/>
          <p:nvPr/>
        </p:nvSpPr>
        <p:spPr>
          <a:xfrm>
            <a:off x="5715000" y="4892040"/>
            <a:ext cx="390144" cy="22860"/>
          </a:xfrm>
          <a:prstGeom prst="rect">
            <a:avLst/>
          </a:prstGeom>
          <a:solidFill>
            <a:srgbClr val="0986F1"/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4892040"/>
            <a:ext cx="390144" cy="22860"/>
          </a:xfrm>
          <a:prstGeom prst="rect">
            <a:avLst/>
          </a:prstGeom>
          <a:solidFill>
            <a:srgbClr val="0A81F0"/>
          </a:solidFill>
          <a:ln/>
        </p:spPr>
      </p:sp>
      <p:sp>
        <p:nvSpPr>
          <p:cNvPr id="56" name="Shape 54"/>
          <p:cNvSpPr/>
          <p:nvPr/>
        </p:nvSpPr>
        <p:spPr>
          <a:xfrm>
            <a:off x="6477000" y="4892040"/>
            <a:ext cx="390144" cy="22860"/>
          </a:xfrm>
          <a:prstGeom prst="rect">
            <a:avLst/>
          </a:prstGeom>
          <a:solidFill>
            <a:srgbClr val="0B7CEF"/>
          </a:solidFill>
          <a:ln/>
        </p:spPr>
      </p:sp>
      <p:sp>
        <p:nvSpPr>
          <p:cNvPr id="57" name="Shape 55"/>
          <p:cNvSpPr/>
          <p:nvPr/>
        </p:nvSpPr>
        <p:spPr>
          <a:xfrm>
            <a:off x="6858000" y="4892040"/>
            <a:ext cx="390144" cy="22860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58" name="Shape 56"/>
          <p:cNvSpPr/>
          <p:nvPr/>
        </p:nvSpPr>
        <p:spPr>
          <a:xfrm>
            <a:off x="7239000" y="4892040"/>
            <a:ext cx="390144" cy="22860"/>
          </a:xfrm>
          <a:prstGeom prst="rect">
            <a:avLst/>
          </a:prstGeom>
          <a:solidFill>
            <a:srgbClr val="0C72ED"/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4892040"/>
            <a:ext cx="390144" cy="22860"/>
          </a:xfrm>
          <a:prstGeom prst="rect">
            <a:avLst/>
          </a:prstGeom>
          <a:solidFill>
            <a:srgbClr val="0D6EEC"/>
          </a:solidFill>
          <a:ln/>
        </p:spPr>
      </p:sp>
      <p:sp>
        <p:nvSpPr>
          <p:cNvPr id="60" name="Shape 58"/>
          <p:cNvSpPr/>
          <p:nvPr/>
        </p:nvSpPr>
        <p:spPr>
          <a:xfrm>
            <a:off x="8001000" y="4892040"/>
            <a:ext cx="390144" cy="22860"/>
          </a:xfrm>
          <a:prstGeom prst="rect">
            <a:avLst/>
          </a:prstGeom>
          <a:solidFill>
            <a:srgbClr val="0D69EB"/>
          </a:solidFill>
          <a:ln/>
        </p:spPr>
      </p:sp>
      <p:sp>
        <p:nvSpPr>
          <p:cNvPr id="61" name="Shape 59"/>
          <p:cNvSpPr/>
          <p:nvPr/>
        </p:nvSpPr>
        <p:spPr>
          <a:xfrm>
            <a:off x="8382000" y="4892040"/>
            <a:ext cx="390144" cy="22860"/>
          </a:xfrm>
          <a:prstGeom prst="rect">
            <a:avLst/>
          </a:prstGeom>
          <a:solidFill>
            <a:srgbClr val="0E64EA"/>
          </a:solidFill>
          <a:ln/>
        </p:spPr>
      </p:sp>
      <p:sp>
        <p:nvSpPr>
          <p:cNvPr id="62" name="Shape 60"/>
          <p:cNvSpPr/>
          <p:nvPr/>
        </p:nvSpPr>
        <p:spPr>
          <a:xfrm>
            <a:off x="8763000" y="4892040"/>
            <a:ext cx="390144" cy="22860"/>
          </a:xfrm>
          <a:prstGeom prst="rect">
            <a:avLst/>
          </a:prstGeom>
          <a:solidFill>
            <a:srgbClr val="0E5FE9"/>
          </a:solidFill>
          <a:ln/>
        </p:spPr>
      </p:sp>
      <p:sp>
        <p:nvSpPr>
          <p:cNvPr id="63" name="Shape 61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80D15"/>
          </a:solidFill>
          <a:ln/>
        </p:spPr>
      </p:sp>
      <p:sp>
        <p:nvSpPr>
          <p:cNvPr id="64" name="Text 62"/>
          <p:cNvSpPr/>
          <p:nvPr/>
        </p:nvSpPr>
        <p:spPr>
          <a:xfrm>
            <a:off x="0" y="491032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Cryptoboy_777  ·  Solo Builder  ·  June 2026  ·  #0GBridge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7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103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66344" cy="274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466344" cy="27432"/>
          </a:xfrm>
          <a:prstGeom prst="rect">
            <a:avLst/>
          </a:prstGeom>
          <a:solidFill>
            <a:srgbClr val="01C9F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0"/>
            <a:ext cx="466344" cy="27432"/>
          </a:xfrm>
          <a:prstGeom prst="rect">
            <a:avLst/>
          </a:prstGeom>
          <a:solidFill>
            <a:srgbClr val="02C3FD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0"/>
            <a:ext cx="466344" cy="27432"/>
          </a:xfrm>
          <a:prstGeom prst="rect">
            <a:avLst/>
          </a:prstGeom>
          <a:solidFill>
            <a:srgbClr val="02BDFC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0"/>
            <a:ext cx="466344" cy="27432"/>
          </a:xfrm>
          <a:prstGeom prst="rect">
            <a:avLst/>
          </a:prstGeom>
          <a:solidFill>
            <a:srgbClr val="03B8F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0"/>
            <a:ext cx="466344" cy="27432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466344" cy="27432"/>
          </a:xfrm>
          <a:prstGeom prst="rect">
            <a:avLst/>
          </a:prstGeom>
          <a:solidFill>
            <a:srgbClr val="05A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0"/>
            <a:ext cx="466344" cy="27432"/>
          </a:xfrm>
          <a:prstGeom prst="rect">
            <a:avLst/>
          </a:prstGeom>
          <a:solidFill>
            <a:srgbClr val="05A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0"/>
            <a:ext cx="466344" cy="27432"/>
          </a:xfrm>
          <a:prstGeom prst="rect">
            <a:avLst/>
          </a:prstGeom>
          <a:solidFill>
            <a:srgbClr val="06A0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0"/>
            <a:ext cx="466344" cy="27432"/>
          </a:xfrm>
          <a:prstGeom prst="rect">
            <a:avLst/>
          </a:prstGeom>
          <a:solidFill>
            <a:srgbClr val="079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0"/>
            <a:ext cx="466344" cy="27432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0"/>
            <a:ext cx="466344" cy="27432"/>
          </a:xfrm>
          <a:prstGeom prst="rect">
            <a:avLst/>
          </a:prstGeom>
          <a:solidFill>
            <a:srgbClr val="088F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0"/>
            <a:ext cx="466344" cy="27432"/>
          </a:xfrm>
          <a:prstGeom prst="rect">
            <a:avLst/>
          </a:prstGeom>
          <a:solidFill>
            <a:srgbClr val="0989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0"/>
            <a:ext cx="466344" cy="27432"/>
          </a:xfrm>
          <a:prstGeom prst="rect">
            <a:avLst/>
          </a:prstGeom>
          <a:solidFill>
            <a:srgbClr val="0A8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0"/>
            <a:ext cx="466344" cy="27432"/>
          </a:xfrm>
          <a:prstGeom prst="rect">
            <a:avLst/>
          </a:prstGeom>
          <a:solidFill>
            <a:srgbClr val="0B7D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0"/>
            <a:ext cx="466344" cy="27432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0"/>
            <a:ext cx="466344" cy="27432"/>
          </a:xfrm>
          <a:prstGeom prst="rect">
            <a:avLst/>
          </a:prstGeom>
          <a:solidFill>
            <a:srgbClr val="0C71E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0"/>
            <a:ext cx="466344" cy="27432"/>
          </a:xfrm>
          <a:prstGeom prst="rect">
            <a:avLst/>
          </a:prstGeom>
          <a:solidFill>
            <a:srgbClr val="0D6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0"/>
            <a:ext cx="466344" cy="27432"/>
          </a:xfrm>
          <a:prstGeom prst="rect">
            <a:avLst/>
          </a:prstGeom>
          <a:solidFill>
            <a:srgbClr val="0E6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0"/>
            <a:ext cx="466344" cy="27432"/>
          </a:xfrm>
          <a:prstGeom prst="rect">
            <a:avLst/>
          </a:prstGeom>
          <a:solidFill>
            <a:srgbClr val="0E60E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64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PROBLEM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"/>
            <a:ext cx="352044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" y="475488"/>
            <a:ext cx="352044" cy="22860"/>
          </a:xfrm>
          <a:prstGeom prst="rect">
            <a:avLst/>
          </a:prstGeom>
          <a:solidFill>
            <a:srgbClr val="01C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75488"/>
            <a:ext cx="352044" cy="22860"/>
          </a:xfrm>
          <a:prstGeom prst="rect">
            <a:avLst/>
          </a:prstGeom>
          <a:solidFill>
            <a:srgbClr val="01C5FD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5900" y="475488"/>
            <a:ext cx="352044" cy="22860"/>
          </a:xfrm>
          <a:prstGeom prst="rect">
            <a:avLst/>
          </a:prstGeom>
          <a:solidFill>
            <a:srgbClr val="02C0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0" y="475488"/>
            <a:ext cx="352044" cy="22860"/>
          </a:xfrm>
          <a:prstGeom prst="rect">
            <a:avLst/>
          </a:prstGeom>
          <a:solidFill>
            <a:srgbClr val="03BCFB"/>
          </a:solidFill>
          <a:ln/>
        </p:spPr>
      </p:sp>
      <p:sp>
        <p:nvSpPr>
          <p:cNvPr id="30" name="Shape 28"/>
          <p:cNvSpPr/>
          <p:nvPr/>
        </p:nvSpPr>
        <p:spPr>
          <a:xfrm>
            <a:off x="2171700" y="475488"/>
            <a:ext cx="352044" cy="22860"/>
          </a:xfrm>
          <a:prstGeom prst="rect">
            <a:avLst/>
          </a:prstGeom>
          <a:solidFill>
            <a:srgbClr val="03B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475488"/>
            <a:ext cx="352044" cy="22860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857500" y="475488"/>
            <a:ext cx="352044" cy="22860"/>
          </a:xfrm>
          <a:prstGeom prst="rect">
            <a:avLst/>
          </a:prstGeom>
          <a:solidFill>
            <a:srgbClr val="04A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475488"/>
            <a:ext cx="352044" cy="22860"/>
          </a:xfrm>
          <a:prstGeom prst="rect">
            <a:avLst/>
          </a:prstGeom>
          <a:solidFill>
            <a:srgbClr val="05A8F7"/>
          </a:solidFill>
          <a:ln/>
        </p:spPr>
      </p:sp>
      <p:sp>
        <p:nvSpPr>
          <p:cNvPr id="34" name="Shape 32"/>
          <p:cNvSpPr/>
          <p:nvPr/>
        </p:nvSpPr>
        <p:spPr>
          <a:xfrm>
            <a:off x="3543300" y="475488"/>
            <a:ext cx="352044" cy="22860"/>
          </a:xfrm>
          <a:prstGeom prst="rect">
            <a:avLst/>
          </a:prstGeom>
          <a:solidFill>
            <a:srgbClr val="06A3F6"/>
          </a:solidFill>
          <a:ln/>
        </p:spPr>
      </p:sp>
      <p:sp>
        <p:nvSpPr>
          <p:cNvPr id="35" name="Shape 33"/>
          <p:cNvSpPr/>
          <p:nvPr/>
        </p:nvSpPr>
        <p:spPr>
          <a:xfrm>
            <a:off x="3886200" y="475488"/>
            <a:ext cx="352044" cy="22860"/>
          </a:xfrm>
          <a:prstGeom prst="rect">
            <a:avLst/>
          </a:prstGeom>
          <a:solidFill>
            <a:srgbClr val="069EF5"/>
          </a:solidFill>
          <a:ln/>
        </p:spPr>
      </p:sp>
      <p:sp>
        <p:nvSpPr>
          <p:cNvPr id="36" name="Shape 34"/>
          <p:cNvSpPr/>
          <p:nvPr/>
        </p:nvSpPr>
        <p:spPr>
          <a:xfrm>
            <a:off x="4229100" y="475488"/>
            <a:ext cx="352044" cy="22860"/>
          </a:xfrm>
          <a:prstGeom prst="rect">
            <a:avLst/>
          </a:prstGeom>
          <a:solidFill>
            <a:srgbClr val="0799F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475488"/>
            <a:ext cx="352044" cy="22860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4900" y="475488"/>
            <a:ext cx="352044" cy="22860"/>
          </a:xfrm>
          <a:prstGeom prst="rect">
            <a:avLst/>
          </a:prstGeom>
          <a:solidFill>
            <a:srgbClr val="0890F3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475488"/>
            <a:ext cx="352044" cy="22860"/>
          </a:xfrm>
          <a:prstGeom prst="rect">
            <a:avLst/>
          </a:prstGeom>
          <a:solidFill>
            <a:srgbClr val="098BF2"/>
          </a:solidFill>
          <a:ln/>
        </p:spPr>
      </p:sp>
      <p:sp>
        <p:nvSpPr>
          <p:cNvPr id="40" name="Shape 38"/>
          <p:cNvSpPr/>
          <p:nvPr/>
        </p:nvSpPr>
        <p:spPr>
          <a:xfrm>
            <a:off x="5600700" y="475488"/>
            <a:ext cx="352044" cy="22860"/>
          </a:xfrm>
          <a:prstGeom prst="rect">
            <a:avLst/>
          </a:prstGeom>
          <a:solidFill>
            <a:srgbClr val="0986F1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475488"/>
            <a:ext cx="352044" cy="22860"/>
          </a:xfrm>
          <a:prstGeom prst="rect">
            <a:avLst/>
          </a:prstGeom>
          <a:solidFill>
            <a:srgbClr val="0A81F0"/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475488"/>
            <a:ext cx="352044" cy="22860"/>
          </a:xfrm>
          <a:prstGeom prst="rect">
            <a:avLst/>
          </a:prstGeom>
          <a:solidFill>
            <a:srgbClr val="0B7CE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9400" y="475488"/>
            <a:ext cx="352044" cy="22860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44" name="Shape 42"/>
          <p:cNvSpPr/>
          <p:nvPr/>
        </p:nvSpPr>
        <p:spPr>
          <a:xfrm>
            <a:off x="6972300" y="475488"/>
            <a:ext cx="352044" cy="22860"/>
          </a:xfrm>
          <a:prstGeom prst="rect">
            <a:avLst/>
          </a:prstGeom>
          <a:solidFill>
            <a:srgbClr val="0C72ED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0" y="475488"/>
            <a:ext cx="352044" cy="22860"/>
          </a:xfrm>
          <a:prstGeom prst="rect">
            <a:avLst/>
          </a:prstGeom>
          <a:solidFill>
            <a:srgbClr val="0D6EEC"/>
          </a:solidFill>
          <a:ln/>
        </p:spPr>
      </p:sp>
      <p:sp>
        <p:nvSpPr>
          <p:cNvPr id="46" name="Shape 44"/>
          <p:cNvSpPr/>
          <p:nvPr/>
        </p:nvSpPr>
        <p:spPr>
          <a:xfrm>
            <a:off x="7658100" y="475488"/>
            <a:ext cx="352044" cy="22860"/>
          </a:xfrm>
          <a:prstGeom prst="rect">
            <a:avLst/>
          </a:prstGeom>
          <a:solidFill>
            <a:srgbClr val="0D69EB"/>
          </a:solidFill>
          <a:ln/>
        </p:spPr>
      </p:sp>
      <p:sp>
        <p:nvSpPr>
          <p:cNvPr id="47" name="Shape 45"/>
          <p:cNvSpPr/>
          <p:nvPr/>
        </p:nvSpPr>
        <p:spPr>
          <a:xfrm>
            <a:off x="8001000" y="475488"/>
            <a:ext cx="352044" cy="22860"/>
          </a:xfrm>
          <a:prstGeom prst="rect">
            <a:avLst/>
          </a:prstGeom>
          <a:solidFill>
            <a:srgbClr val="0E64EA"/>
          </a:solidFill>
          <a:ln/>
        </p:spPr>
      </p:sp>
      <p:sp>
        <p:nvSpPr>
          <p:cNvPr id="48" name="Shape 46"/>
          <p:cNvSpPr/>
          <p:nvPr/>
        </p:nvSpPr>
        <p:spPr>
          <a:xfrm>
            <a:off x="8343900" y="475488"/>
            <a:ext cx="352044" cy="22860"/>
          </a:xfrm>
          <a:prstGeom prst="rect">
            <a:avLst/>
          </a:prstGeom>
          <a:solidFill>
            <a:srgbClr val="0E5FE9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6692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spc="-5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Have No Credit History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457200" y="138988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BDD5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are the next wave of on-chain actors — but DeFi infrastructure was never built for them. They need infrastructure credit, not just token swaps.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1920240"/>
            <a:ext cx="4114800" cy="1207008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1920240"/>
            <a:ext cx="36576" cy="1207008"/>
          </a:xfrm>
          <a:prstGeom prst="rect">
            <a:avLst/>
          </a:prstGeom>
          <a:solidFill>
            <a:srgbClr val="FF3560"/>
          </a:solidFill>
          <a:ln/>
        </p:spPr>
      </p:sp>
      <p:sp>
        <p:nvSpPr>
          <p:cNvPr id="53" name="Text 51"/>
          <p:cNvSpPr/>
          <p:nvPr/>
        </p:nvSpPr>
        <p:spPr>
          <a:xfrm>
            <a:off x="566928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Identity Layer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66928" y="2304288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wallet address carries zero financial reputation. There is no FICO, no score, no history — just a public key.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63440" y="1920240"/>
            <a:ext cx="4114800" cy="1207008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63440" y="1920240"/>
            <a:ext cx="36576" cy="120700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7" name="Text 55"/>
          <p:cNvSpPr/>
          <p:nvPr/>
        </p:nvSpPr>
        <p:spPr>
          <a:xfrm>
            <a:off x="4864608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Over-Collateralized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864608" y="2304288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 and Compound require 150%+ collateral. Agents can't scale operations when they must lock up more than they borrow.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" y="3273552"/>
            <a:ext cx="4114800" cy="1207008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3273552"/>
            <a:ext cx="36576" cy="1207008"/>
          </a:xfrm>
          <a:prstGeom prst="rect">
            <a:avLst/>
          </a:prstGeom>
          <a:solidFill>
            <a:srgbClr val="8B2FFF"/>
          </a:solidFill>
          <a:ln/>
        </p:spPr>
      </p:sp>
      <p:sp>
        <p:nvSpPr>
          <p:cNvPr id="61" name="Text 59"/>
          <p:cNvSpPr/>
          <p:nvPr/>
        </p:nvSpPr>
        <p:spPr>
          <a:xfrm>
            <a:off x="566928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AI Only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66928" y="3657600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and OpenAI control compute credit. No transparency, no programmability, no composability with on-chain systems.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663440" y="3273552"/>
            <a:ext cx="4114800" cy="1207008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63440" y="3273552"/>
            <a:ext cx="36576" cy="1207008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864608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Repayment Signal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864608" y="3657600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credit consequences, rational agents default. There is no mechanism to reward good on-chain financial behaviour.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7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103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66344" cy="274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466344" cy="27432"/>
          </a:xfrm>
          <a:prstGeom prst="rect">
            <a:avLst/>
          </a:prstGeom>
          <a:solidFill>
            <a:srgbClr val="01C9F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0"/>
            <a:ext cx="466344" cy="27432"/>
          </a:xfrm>
          <a:prstGeom prst="rect">
            <a:avLst/>
          </a:prstGeom>
          <a:solidFill>
            <a:srgbClr val="02C3FD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0"/>
            <a:ext cx="466344" cy="27432"/>
          </a:xfrm>
          <a:prstGeom prst="rect">
            <a:avLst/>
          </a:prstGeom>
          <a:solidFill>
            <a:srgbClr val="02BDFC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0"/>
            <a:ext cx="466344" cy="27432"/>
          </a:xfrm>
          <a:prstGeom prst="rect">
            <a:avLst/>
          </a:prstGeom>
          <a:solidFill>
            <a:srgbClr val="03B8F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0"/>
            <a:ext cx="466344" cy="27432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466344" cy="27432"/>
          </a:xfrm>
          <a:prstGeom prst="rect">
            <a:avLst/>
          </a:prstGeom>
          <a:solidFill>
            <a:srgbClr val="05A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0"/>
            <a:ext cx="466344" cy="27432"/>
          </a:xfrm>
          <a:prstGeom prst="rect">
            <a:avLst/>
          </a:prstGeom>
          <a:solidFill>
            <a:srgbClr val="05A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0"/>
            <a:ext cx="466344" cy="27432"/>
          </a:xfrm>
          <a:prstGeom prst="rect">
            <a:avLst/>
          </a:prstGeom>
          <a:solidFill>
            <a:srgbClr val="06A0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0"/>
            <a:ext cx="466344" cy="27432"/>
          </a:xfrm>
          <a:prstGeom prst="rect">
            <a:avLst/>
          </a:prstGeom>
          <a:solidFill>
            <a:srgbClr val="079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0"/>
            <a:ext cx="466344" cy="27432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0"/>
            <a:ext cx="466344" cy="27432"/>
          </a:xfrm>
          <a:prstGeom prst="rect">
            <a:avLst/>
          </a:prstGeom>
          <a:solidFill>
            <a:srgbClr val="088F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0"/>
            <a:ext cx="466344" cy="27432"/>
          </a:xfrm>
          <a:prstGeom prst="rect">
            <a:avLst/>
          </a:prstGeom>
          <a:solidFill>
            <a:srgbClr val="0989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0"/>
            <a:ext cx="466344" cy="27432"/>
          </a:xfrm>
          <a:prstGeom prst="rect">
            <a:avLst/>
          </a:prstGeom>
          <a:solidFill>
            <a:srgbClr val="0A8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0"/>
            <a:ext cx="466344" cy="27432"/>
          </a:xfrm>
          <a:prstGeom prst="rect">
            <a:avLst/>
          </a:prstGeom>
          <a:solidFill>
            <a:srgbClr val="0B7D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0"/>
            <a:ext cx="466344" cy="27432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0"/>
            <a:ext cx="466344" cy="27432"/>
          </a:xfrm>
          <a:prstGeom prst="rect">
            <a:avLst/>
          </a:prstGeom>
          <a:solidFill>
            <a:srgbClr val="0C71E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0"/>
            <a:ext cx="466344" cy="27432"/>
          </a:xfrm>
          <a:prstGeom prst="rect">
            <a:avLst/>
          </a:prstGeom>
          <a:solidFill>
            <a:srgbClr val="0D6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0"/>
            <a:ext cx="466344" cy="27432"/>
          </a:xfrm>
          <a:prstGeom prst="rect">
            <a:avLst/>
          </a:prstGeom>
          <a:solidFill>
            <a:srgbClr val="0E6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0"/>
            <a:ext cx="466344" cy="27432"/>
          </a:xfrm>
          <a:prstGeom prst="rect">
            <a:avLst/>
          </a:prstGeom>
          <a:solidFill>
            <a:srgbClr val="0E60E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64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THE SOLUTION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"/>
            <a:ext cx="352044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" y="475488"/>
            <a:ext cx="352044" cy="22860"/>
          </a:xfrm>
          <a:prstGeom prst="rect">
            <a:avLst/>
          </a:prstGeom>
          <a:solidFill>
            <a:srgbClr val="01C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75488"/>
            <a:ext cx="352044" cy="22860"/>
          </a:xfrm>
          <a:prstGeom prst="rect">
            <a:avLst/>
          </a:prstGeom>
          <a:solidFill>
            <a:srgbClr val="01C5FD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5900" y="475488"/>
            <a:ext cx="352044" cy="22860"/>
          </a:xfrm>
          <a:prstGeom prst="rect">
            <a:avLst/>
          </a:prstGeom>
          <a:solidFill>
            <a:srgbClr val="02C0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0" y="475488"/>
            <a:ext cx="352044" cy="22860"/>
          </a:xfrm>
          <a:prstGeom prst="rect">
            <a:avLst/>
          </a:prstGeom>
          <a:solidFill>
            <a:srgbClr val="03BCFB"/>
          </a:solidFill>
          <a:ln/>
        </p:spPr>
      </p:sp>
      <p:sp>
        <p:nvSpPr>
          <p:cNvPr id="30" name="Shape 28"/>
          <p:cNvSpPr/>
          <p:nvPr/>
        </p:nvSpPr>
        <p:spPr>
          <a:xfrm>
            <a:off x="2171700" y="475488"/>
            <a:ext cx="352044" cy="22860"/>
          </a:xfrm>
          <a:prstGeom prst="rect">
            <a:avLst/>
          </a:prstGeom>
          <a:solidFill>
            <a:srgbClr val="03B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475488"/>
            <a:ext cx="352044" cy="22860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857500" y="475488"/>
            <a:ext cx="352044" cy="22860"/>
          </a:xfrm>
          <a:prstGeom prst="rect">
            <a:avLst/>
          </a:prstGeom>
          <a:solidFill>
            <a:srgbClr val="04A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475488"/>
            <a:ext cx="352044" cy="22860"/>
          </a:xfrm>
          <a:prstGeom prst="rect">
            <a:avLst/>
          </a:prstGeom>
          <a:solidFill>
            <a:srgbClr val="05A8F7"/>
          </a:solidFill>
          <a:ln/>
        </p:spPr>
      </p:sp>
      <p:sp>
        <p:nvSpPr>
          <p:cNvPr id="34" name="Shape 32"/>
          <p:cNvSpPr/>
          <p:nvPr/>
        </p:nvSpPr>
        <p:spPr>
          <a:xfrm>
            <a:off x="3543300" y="475488"/>
            <a:ext cx="352044" cy="22860"/>
          </a:xfrm>
          <a:prstGeom prst="rect">
            <a:avLst/>
          </a:prstGeom>
          <a:solidFill>
            <a:srgbClr val="06A3F6"/>
          </a:solidFill>
          <a:ln/>
        </p:spPr>
      </p:sp>
      <p:sp>
        <p:nvSpPr>
          <p:cNvPr id="35" name="Shape 33"/>
          <p:cNvSpPr/>
          <p:nvPr/>
        </p:nvSpPr>
        <p:spPr>
          <a:xfrm>
            <a:off x="3886200" y="475488"/>
            <a:ext cx="352044" cy="22860"/>
          </a:xfrm>
          <a:prstGeom prst="rect">
            <a:avLst/>
          </a:prstGeom>
          <a:solidFill>
            <a:srgbClr val="069EF5"/>
          </a:solidFill>
          <a:ln/>
        </p:spPr>
      </p:sp>
      <p:sp>
        <p:nvSpPr>
          <p:cNvPr id="36" name="Shape 34"/>
          <p:cNvSpPr/>
          <p:nvPr/>
        </p:nvSpPr>
        <p:spPr>
          <a:xfrm>
            <a:off x="4229100" y="475488"/>
            <a:ext cx="352044" cy="22860"/>
          </a:xfrm>
          <a:prstGeom prst="rect">
            <a:avLst/>
          </a:prstGeom>
          <a:solidFill>
            <a:srgbClr val="0799F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475488"/>
            <a:ext cx="352044" cy="22860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4900" y="475488"/>
            <a:ext cx="352044" cy="22860"/>
          </a:xfrm>
          <a:prstGeom prst="rect">
            <a:avLst/>
          </a:prstGeom>
          <a:solidFill>
            <a:srgbClr val="0890F3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475488"/>
            <a:ext cx="352044" cy="22860"/>
          </a:xfrm>
          <a:prstGeom prst="rect">
            <a:avLst/>
          </a:prstGeom>
          <a:solidFill>
            <a:srgbClr val="098BF2"/>
          </a:solidFill>
          <a:ln/>
        </p:spPr>
      </p:sp>
      <p:sp>
        <p:nvSpPr>
          <p:cNvPr id="40" name="Shape 38"/>
          <p:cNvSpPr/>
          <p:nvPr/>
        </p:nvSpPr>
        <p:spPr>
          <a:xfrm>
            <a:off x="5600700" y="475488"/>
            <a:ext cx="352044" cy="22860"/>
          </a:xfrm>
          <a:prstGeom prst="rect">
            <a:avLst/>
          </a:prstGeom>
          <a:solidFill>
            <a:srgbClr val="0986F1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475488"/>
            <a:ext cx="352044" cy="22860"/>
          </a:xfrm>
          <a:prstGeom prst="rect">
            <a:avLst/>
          </a:prstGeom>
          <a:solidFill>
            <a:srgbClr val="0A81F0"/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475488"/>
            <a:ext cx="352044" cy="22860"/>
          </a:xfrm>
          <a:prstGeom prst="rect">
            <a:avLst/>
          </a:prstGeom>
          <a:solidFill>
            <a:srgbClr val="0B7CE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9400" y="475488"/>
            <a:ext cx="352044" cy="22860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44" name="Shape 42"/>
          <p:cNvSpPr/>
          <p:nvPr/>
        </p:nvSpPr>
        <p:spPr>
          <a:xfrm>
            <a:off x="6972300" y="475488"/>
            <a:ext cx="352044" cy="22860"/>
          </a:xfrm>
          <a:prstGeom prst="rect">
            <a:avLst/>
          </a:prstGeom>
          <a:solidFill>
            <a:srgbClr val="0C72ED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0" y="475488"/>
            <a:ext cx="352044" cy="22860"/>
          </a:xfrm>
          <a:prstGeom prst="rect">
            <a:avLst/>
          </a:prstGeom>
          <a:solidFill>
            <a:srgbClr val="0D6EEC"/>
          </a:solidFill>
          <a:ln/>
        </p:spPr>
      </p:sp>
      <p:sp>
        <p:nvSpPr>
          <p:cNvPr id="46" name="Shape 44"/>
          <p:cNvSpPr/>
          <p:nvPr/>
        </p:nvSpPr>
        <p:spPr>
          <a:xfrm>
            <a:off x="7658100" y="475488"/>
            <a:ext cx="352044" cy="22860"/>
          </a:xfrm>
          <a:prstGeom prst="rect">
            <a:avLst/>
          </a:prstGeom>
          <a:solidFill>
            <a:srgbClr val="0D69EB"/>
          </a:solidFill>
          <a:ln/>
        </p:spPr>
      </p:sp>
      <p:sp>
        <p:nvSpPr>
          <p:cNvPr id="47" name="Shape 45"/>
          <p:cNvSpPr/>
          <p:nvPr/>
        </p:nvSpPr>
        <p:spPr>
          <a:xfrm>
            <a:off x="8001000" y="475488"/>
            <a:ext cx="352044" cy="22860"/>
          </a:xfrm>
          <a:prstGeom prst="rect">
            <a:avLst/>
          </a:prstGeom>
          <a:solidFill>
            <a:srgbClr val="0E64EA"/>
          </a:solidFill>
          <a:ln/>
        </p:spPr>
      </p:sp>
      <p:sp>
        <p:nvSpPr>
          <p:cNvPr id="48" name="Shape 46"/>
          <p:cNvSpPr/>
          <p:nvPr/>
        </p:nvSpPr>
        <p:spPr>
          <a:xfrm>
            <a:off x="8343900" y="475488"/>
            <a:ext cx="352044" cy="22860"/>
          </a:xfrm>
          <a:prstGeom prst="rect">
            <a:avLst/>
          </a:prstGeom>
          <a:solidFill>
            <a:srgbClr val="0E5FE9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6692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5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CreditFi: AI Credit Scoring,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spc="-5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and Decentralized</a:t>
            </a:r>
            <a:endParaRPr lang="en-US" sz="2800" dirty="0"/>
          </a:p>
        </p:txBody>
      </p:sp>
      <p:sp>
        <p:nvSpPr>
          <p:cNvPr id="50" name="Shape 48"/>
          <p:cNvSpPr/>
          <p:nvPr/>
        </p:nvSpPr>
        <p:spPr>
          <a:xfrm>
            <a:off x="274320" y="1627632"/>
            <a:ext cx="2029968" cy="315468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1627632"/>
            <a:ext cx="2029968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02336" y="173736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02336" y="20299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402336" y="2432304"/>
            <a:ext cx="18288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behaviour recorded to 0G Storage — repayments, collateral ratios, borrow frequency, account age.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304288" y="3200400"/>
            <a:ext cx="164592" cy="0"/>
          </a:xfrm>
          <a:prstGeom prst="line">
            <a:avLst/>
          </a:prstGeom>
          <a:noFill/>
          <a:ln w="15240">
            <a:solidFill>
              <a:srgbClr val="213652"/>
            </a:solidFill>
            <a:prstDash val="solid"/>
            <a:tailEnd type="open"/>
          </a:ln>
        </p:spPr>
      </p:sp>
      <p:sp>
        <p:nvSpPr>
          <p:cNvPr id="56" name="Shape 54"/>
          <p:cNvSpPr/>
          <p:nvPr/>
        </p:nvSpPr>
        <p:spPr>
          <a:xfrm>
            <a:off x="2468880" y="1627632"/>
            <a:ext cx="2029968" cy="315468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1627632"/>
            <a:ext cx="2029968" cy="22860"/>
          </a:xfrm>
          <a:prstGeom prst="rect">
            <a:avLst/>
          </a:prstGeom>
          <a:solidFill>
            <a:srgbClr val="00EF9F"/>
          </a:solidFill>
          <a:ln/>
        </p:spPr>
      </p:sp>
      <p:sp>
        <p:nvSpPr>
          <p:cNvPr id="58" name="Text 56"/>
          <p:cNvSpPr/>
          <p:nvPr/>
        </p:nvSpPr>
        <p:spPr>
          <a:xfrm>
            <a:off x="2596896" y="173736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596896" y="20299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2596896" y="2432304"/>
            <a:ext cx="18288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GBM AI model runs on 0G Compute Network and outputs a FICO-like credit score from 300 to 850.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498848" y="3200400"/>
            <a:ext cx="164592" cy="0"/>
          </a:xfrm>
          <a:prstGeom prst="line">
            <a:avLst/>
          </a:prstGeom>
          <a:noFill/>
          <a:ln w="15240">
            <a:solidFill>
              <a:srgbClr val="213652"/>
            </a:solidFill>
            <a:prstDash val="solid"/>
            <a:tailEnd type="open"/>
          </a:ln>
        </p:spPr>
      </p:sp>
      <p:sp>
        <p:nvSpPr>
          <p:cNvPr id="62" name="Shape 60"/>
          <p:cNvSpPr/>
          <p:nvPr/>
        </p:nvSpPr>
        <p:spPr>
          <a:xfrm>
            <a:off x="4663440" y="1627632"/>
            <a:ext cx="2029968" cy="315468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63440" y="1627632"/>
            <a:ext cx="2029968" cy="228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4" name="Text 62"/>
          <p:cNvSpPr/>
          <p:nvPr/>
        </p:nvSpPr>
        <p:spPr>
          <a:xfrm>
            <a:off x="4791456" y="173736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791456" y="20299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4791456" y="2432304"/>
            <a:ext cx="18288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borrow OG tokens based on score. Higher score unlocks higher LTV — from 50% up to 75%.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693408" y="3200400"/>
            <a:ext cx="164592" cy="0"/>
          </a:xfrm>
          <a:prstGeom prst="line">
            <a:avLst/>
          </a:prstGeom>
          <a:noFill/>
          <a:ln w="15240">
            <a:solidFill>
              <a:srgbClr val="213652"/>
            </a:solidFill>
            <a:prstDash val="solid"/>
            <a:tailEnd type="open"/>
          </a:ln>
        </p:spPr>
      </p:sp>
      <p:sp>
        <p:nvSpPr>
          <p:cNvPr id="68" name="Shape 66"/>
          <p:cNvSpPr/>
          <p:nvPr/>
        </p:nvSpPr>
        <p:spPr>
          <a:xfrm>
            <a:off x="6858000" y="1627632"/>
            <a:ext cx="2029968" cy="315468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0" y="1627632"/>
            <a:ext cx="2029968" cy="22860"/>
          </a:xfrm>
          <a:prstGeom prst="rect">
            <a:avLst/>
          </a:prstGeom>
          <a:solidFill>
            <a:srgbClr val="8B2FFF"/>
          </a:solidFill>
          <a:ln/>
        </p:spPr>
      </p:sp>
      <p:sp>
        <p:nvSpPr>
          <p:cNvPr id="70" name="Text 68"/>
          <p:cNvSpPr/>
          <p:nvPr/>
        </p:nvSpPr>
        <p:spPr>
          <a:xfrm>
            <a:off x="6986016" y="173736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8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986016" y="20299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6986016" y="2432304"/>
            <a:ext cx="18288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repayment boosts credit score +20 pts. Defaults slash it −100. Pure on-chain financial merit.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101C2C"/>
          </a:solidFill>
          <a:ln w="7620">
            <a:solidFill>
              <a:srgbClr val="21365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Range: 300 (High-Risk)  →  500 (Sub-Prime)  →  650 (Near-Prime)  →  850 (Prime)  ·  Max LTV 50% → 75%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7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103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66344" cy="274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466344" cy="27432"/>
          </a:xfrm>
          <a:prstGeom prst="rect">
            <a:avLst/>
          </a:prstGeom>
          <a:solidFill>
            <a:srgbClr val="01C9F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0"/>
            <a:ext cx="466344" cy="27432"/>
          </a:xfrm>
          <a:prstGeom prst="rect">
            <a:avLst/>
          </a:prstGeom>
          <a:solidFill>
            <a:srgbClr val="02C3FD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0"/>
            <a:ext cx="466344" cy="27432"/>
          </a:xfrm>
          <a:prstGeom prst="rect">
            <a:avLst/>
          </a:prstGeom>
          <a:solidFill>
            <a:srgbClr val="02BDFC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0"/>
            <a:ext cx="466344" cy="27432"/>
          </a:xfrm>
          <a:prstGeom prst="rect">
            <a:avLst/>
          </a:prstGeom>
          <a:solidFill>
            <a:srgbClr val="03B8F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0"/>
            <a:ext cx="466344" cy="27432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466344" cy="27432"/>
          </a:xfrm>
          <a:prstGeom prst="rect">
            <a:avLst/>
          </a:prstGeom>
          <a:solidFill>
            <a:srgbClr val="05A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0"/>
            <a:ext cx="466344" cy="27432"/>
          </a:xfrm>
          <a:prstGeom prst="rect">
            <a:avLst/>
          </a:prstGeom>
          <a:solidFill>
            <a:srgbClr val="05A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0"/>
            <a:ext cx="466344" cy="27432"/>
          </a:xfrm>
          <a:prstGeom prst="rect">
            <a:avLst/>
          </a:prstGeom>
          <a:solidFill>
            <a:srgbClr val="06A0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0"/>
            <a:ext cx="466344" cy="27432"/>
          </a:xfrm>
          <a:prstGeom prst="rect">
            <a:avLst/>
          </a:prstGeom>
          <a:solidFill>
            <a:srgbClr val="079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0"/>
            <a:ext cx="466344" cy="27432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0"/>
            <a:ext cx="466344" cy="27432"/>
          </a:xfrm>
          <a:prstGeom prst="rect">
            <a:avLst/>
          </a:prstGeom>
          <a:solidFill>
            <a:srgbClr val="088F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0"/>
            <a:ext cx="466344" cy="27432"/>
          </a:xfrm>
          <a:prstGeom prst="rect">
            <a:avLst/>
          </a:prstGeom>
          <a:solidFill>
            <a:srgbClr val="0989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0"/>
            <a:ext cx="466344" cy="27432"/>
          </a:xfrm>
          <a:prstGeom prst="rect">
            <a:avLst/>
          </a:prstGeom>
          <a:solidFill>
            <a:srgbClr val="0A8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0"/>
            <a:ext cx="466344" cy="27432"/>
          </a:xfrm>
          <a:prstGeom prst="rect">
            <a:avLst/>
          </a:prstGeom>
          <a:solidFill>
            <a:srgbClr val="0B7D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0"/>
            <a:ext cx="466344" cy="27432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0"/>
            <a:ext cx="466344" cy="27432"/>
          </a:xfrm>
          <a:prstGeom prst="rect">
            <a:avLst/>
          </a:prstGeom>
          <a:solidFill>
            <a:srgbClr val="0C71E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0"/>
            <a:ext cx="466344" cy="27432"/>
          </a:xfrm>
          <a:prstGeom prst="rect">
            <a:avLst/>
          </a:prstGeom>
          <a:solidFill>
            <a:srgbClr val="0D6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0"/>
            <a:ext cx="466344" cy="27432"/>
          </a:xfrm>
          <a:prstGeom prst="rect">
            <a:avLst/>
          </a:prstGeom>
          <a:solidFill>
            <a:srgbClr val="0E6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0"/>
            <a:ext cx="466344" cy="27432"/>
          </a:xfrm>
          <a:prstGeom prst="rect">
            <a:avLst/>
          </a:prstGeom>
          <a:solidFill>
            <a:srgbClr val="0E60E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64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0G INTEGRATION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"/>
            <a:ext cx="352044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" y="475488"/>
            <a:ext cx="352044" cy="22860"/>
          </a:xfrm>
          <a:prstGeom prst="rect">
            <a:avLst/>
          </a:prstGeom>
          <a:solidFill>
            <a:srgbClr val="01C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75488"/>
            <a:ext cx="352044" cy="22860"/>
          </a:xfrm>
          <a:prstGeom prst="rect">
            <a:avLst/>
          </a:prstGeom>
          <a:solidFill>
            <a:srgbClr val="01C5FD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5900" y="475488"/>
            <a:ext cx="352044" cy="22860"/>
          </a:xfrm>
          <a:prstGeom prst="rect">
            <a:avLst/>
          </a:prstGeom>
          <a:solidFill>
            <a:srgbClr val="02C0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0" y="475488"/>
            <a:ext cx="352044" cy="22860"/>
          </a:xfrm>
          <a:prstGeom prst="rect">
            <a:avLst/>
          </a:prstGeom>
          <a:solidFill>
            <a:srgbClr val="03BCFB"/>
          </a:solidFill>
          <a:ln/>
        </p:spPr>
      </p:sp>
      <p:sp>
        <p:nvSpPr>
          <p:cNvPr id="30" name="Shape 28"/>
          <p:cNvSpPr/>
          <p:nvPr/>
        </p:nvSpPr>
        <p:spPr>
          <a:xfrm>
            <a:off x="2171700" y="475488"/>
            <a:ext cx="352044" cy="22860"/>
          </a:xfrm>
          <a:prstGeom prst="rect">
            <a:avLst/>
          </a:prstGeom>
          <a:solidFill>
            <a:srgbClr val="03B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475488"/>
            <a:ext cx="352044" cy="22860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857500" y="475488"/>
            <a:ext cx="352044" cy="22860"/>
          </a:xfrm>
          <a:prstGeom prst="rect">
            <a:avLst/>
          </a:prstGeom>
          <a:solidFill>
            <a:srgbClr val="04A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475488"/>
            <a:ext cx="352044" cy="22860"/>
          </a:xfrm>
          <a:prstGeom prst="rect">
            <a:avLst/>
          </a:prstGeom>
          <a:solidFill>
            <a:srgbClr val="05A8F7"/>
          </a:solidFill>
          <a:ln/>
        </p:spPr>
      </p:sp>
      <p:sp>
        <p:nvSpPr>
          <p:cNvPr id="34" name="Shape 32"/>
          <p:cNvSpPr/>
          <p:nvPr/>
        </p:nvSpPr>
        <p:spPr>
          <a:xfrm>
            <a:off x="3543300" y="475488"/>
            <a:ext cx="352044" cy="22860"/>
          </a:xfrm>
          <a:prstGeom prst="rect">
            <a:avLst/>
          </a:prstGeom>
          <a:solidFill>
            <a:srgbClr val="06A3F6"/>
          </a:solidFill>
          <a:ln/>
        </p:spPr>
      </p:sp>
      <p:sp>
        <p:nvSpPr>
          <p:cNvPr id="35" name="Shape 33"/>
          <p:cNvSpPr/>
          <p:nvPr/>
        </p:nvSpPr>
        <p:spPr>
          <a:xfrm>
            <a:off x="3886200" y="475488"/>
            <a:ext cx="352044" cy="22860"/>
          </a:xfrm>
          <a:prstGeom prst="rect">
            <a:avLst/>
          </a:prstGeom>
          <a:solidFill>
            <a:srgbClr val="069EF5"/>
          </a:solidFill>
          <a:ln/>
        </p:spPr>
      </p:sp>
      <p:sp>
        <p:nvSpPr>
          <p:cNvPr id="36" name="Shape 34"/>
          <p:cNvSpPr/>
          <p:nvPr/>
        </p:nvSpPr>
        <p:spPr>
          <a:xfrm>
            <a:off x="4229100" y="475488"/>
            <a:ext cx="352044" cy="22860"/>
          </a:xfrm>
          <a:prstGeom prst="rect">
            <a:avLst/>
          </a:prstGeom>
          <a:solidFill>
            <a:srgbClr val="0799F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475488"/>
            <a:ext cx="352044" cy="22860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4900" y="475488"/>
            <a:ext cx="352044" cy="22860"/>
          </a:xfrm>
          <a:prstGeom prst="rect">
            <a:avLst/>
          </a:prstGeom>
          <a:solidFill>
            <a:srgbClr val="0890F3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475488"/>
            <a:ext cx="352044" cy="22860"/>
          </a:xfrm>
          <a:prstGeom prst="rect">
            <a:avLst/>
          </a:prstGeom>
          <a:solidFill>
            <a:srgbClr val="098BF2"/>
          </a:solidFill>
          <a:ln/>
        </p:spPr>
      </p:sp>
      <p:sp>
        <p:nvSpPr>
          <p:cNvPr id="40" name="Shape 38"/>
          <p:cNvSpPr/>
          <p:nvPr/>
        </p:nvSpPr>
        <p:spPr>
          <a:xfrm>
            <a:off x="5600700" y="475488"/>
            <a:ext cx="352044" cy="22860"/>
          </a:xfrm>
          <a:prstGeom prst="rect">
            <a:avLst/>
          </a:prstGeom>
          <a:solidFill>
            <a:srgbClr val="0986F1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475488"/>
            <a:ext cx="352044" cy="22860"/>
          </a:xfrm>
          <a:prstGeom prst="rect">
            <a:avLst/>
          </a:prstGeom>
          <a:solidFill>
            <a:srgbClr val="0A81F0"/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475488"/>
            <a:ext cx="352044" cy="22860"/>
          </a:xfrm>
          <a:prstGeom prst="rect">
            <a:avLst/>
          </a:prstGeom>
          <a:solidFill>
            <a:srgbClr val="0B7CE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9400" y="475488"/>
            <a:ext cx="352044" cy="22860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44" name="Shape 42"/>
          <p:cNvSpPr/>
          <p:nvPr/>
        </p:nvSpPr>
        <p:spPr>
          <a:xfrm>
            <a:off x="6972300" y="475488"/>
            <a:ext cx="352044" cy="22860"/>
          </a:xfrm>
          <a:prstGeom prst="rect">
            <a:avLst/>
          </a:prstGeom>
          <a:solidFill>
            <a:srgbClr val="0C72ED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0" y="475488"/>
            <a:ext cx="352044" cy="22860"/>
          </a:xfrm>
          <a:prstGeom prst="rect">
            <a:avLst/>
          </a:prstGeom>
          <a:solidFill>
            <a:srgbClr val="0D6EEC"/>
          </a:solidFill>
          <a:ln/>
        </p:spPr>
      </p:sp>
      <p:sp>
        <p:nvSpPr>
          <p:cNvPr id="46" name="Shape 44"/>
          <p:cNvSpPr/>
          <p:nvPr/>
        </p:nvSpPr>
        <p:spPr>
          <a:xfrm>
            <a:off x="7658100" y="475488"/>
            <a:ext cx="352044" cy="22860"/>
          </a:xfrm>
          <a:prstGeom prst="rect">
            <a:avLst/>
          </a:prstGeom>
          <a:solidFill>
            <a:srgbClr val="0D69EB"/>
          </a:solidFill>
          <a:ln/>
        </p:spPr>
      </p:sp>
      <p:sp>
        <p:nvSpPr>
          <p:cNvPr id="47" name="Shape 45"/>
          <p:cNvSpPr/>
          <p:nvPr/>
        </p:nvSpPr>
        <p:spPr>
          <a:xfrm>
            <a:off x="8001000" y="475488"/>
            <a:ext cx="352044" cy="22860"/>
          </a:xfrm>
          <a:prstGeom prst="rect">
            <a:avLst/>
          </a:prstGeom>
          <a:solidFill>
            <a:srgbClr val="0E64EA"/>
          </a:solidFill>
          <a:ln/>
        </p:spPr>
      </p:sp>
      <p:sp>
        <p:nvSpPr>
          <p:cNvPr id="48" name="Shape 46"/>
          <p:cNvSpPr/>
          <p:nvPr/>
        </p:nvSpPr>
        <p:spPr>
          <a:xfrm>
            <a:off x="8343900" y="475488"/>
            <a:ext cx="352044" cy="22860"/>
          </a:xfrm>
          <a:prstGeom prst="rect">
            <a:avLst/>
          </a:prstGeom>
          <a:solidFill>
            <a:srgbClr val="0E5FE9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6692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5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5 0G Components · Deeply Integrated</a:t>
            </a:r>
            <a:endParaRPr lang="en-US" sz="2800" dirty="0"/>
          </a:p>
        </p:txBody>
      </p:sp>
      <p:sp>
        <p:nvSpPr>
          <p:cNvPr id="50" name="Shape 48"/>
          <p:cNvSpPr/>
          <p:nvPr/>
        </p:nvSpPr>
        <p:spPr>
          <a:xfrm>
            <a:off x="274320" y="1554480"/>
            <a:ext cx="4160520" cy="1536192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1554480"/>
            <a:ext cx="4160520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02336" y="1645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0G Chain</a:t>
            </a:r>
            <a:pPr indent="0" marL="0">
              <a:buNone/>
            </a:pPr>
            <a:r>
              <a:rPr lang="en-US" sz="105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Core Lending Layer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02336" y="19568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CreditFi.sol deployed as EVM-compatible contract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02336" y="21854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All lending logic: deposit, borrow, repay, liquidate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02336" y="24140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Score oracle writes credit score on-chain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02336" y="26426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Immutable, auditable, permissionless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02336" y="2871216"/>
            <a:ext cx="3913632" cy="182880"/>
          </a:xfrm>
          <a:prstGeom prst="rect">
            <a:avLst/>
          </a:prstGeom>
          <a:solidFill>
            <a:srgbClr val="101C2C"/>
          </a:solidFill>
          <a:ln w="7620">
            <a:solidFill>
              <a:srgbClr val="21365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28712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hardhat deploy --network 0g-testnet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617720" y="1554480"/>
            <a:ext cx="4160520" cy="1536192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17720" y="1554480"/>
            <a:ext cx="4160520" cy="22860"/>
          </a:xfrm>
          <a:prstGeom prst="rect">
            <a:avLst/>
          </a:prstGeom>
          <a:solidFill>
            <a:srgbClr val="00EF9F"/>
          </a:solidFill>
          <a:ln/>
        </p:spPr>
      </p:sp>
      <p:sp>
        <p:nvSpPr>
          <p:cNvPr id="61" name="Text 59"/>
          <p:cNvSpPr/>
          <p:nvPr/>
        </p:nvSpPr>
        <p:spPr>
          <a:xfrm>
            <a:off x="4745736" y="1645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0G Compute</a:t>
            </a:r>
            <a:pPr indent="0" marL="0">
              <a:buNone/>
            </a:pPr>
            <a:r>
              <a:rPr lang="en-US" sz="105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AI Inference Oracle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745736" y="19568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GBM model runs as decentralized inference job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745736" y="21854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5 features → probability → credit score 300–850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745736" y="24140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Oracle submits score via updateCreditScore()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745736" y="26426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Trustless AI underwriting — no centralized API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745736" y="2871216"/>
            <a:ext cx="3913632" cy="182880"/>
          </a:xfrm>
          <a:prstGeom prst="rect">
            <a:avLst/>
          </a:prstGeom>
          <a:solidFill>
            <a:srgbClr val="101C2C"/>
          </a:solidFill>
          <a:ln w="7620">
            <a:solidFill>
              <a:srgbClr val="21365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28712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credit_scorer.py agent_data.json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74320" y="3200400"/>
            <a:ext cx="4160520" cy="1536192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4320" y="3200400"/>
            <a:ext cx="4160520" cy="228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0" name="Text 68"/>
          <p:cNvSpPr/>
          <p:nvPr/>
        </p:nvSpPr>
        <p:spPr>
          <a:xfrm>
            <a:off x="402336" y="3291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0G Storage</a:t>
            </a:r>
            <a:pPr indent="0" marL="0">
              <a:buNone/>
            </a:pPr>
            <a:r>
              <a:rPr lang="en-US" sz="105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Credit History Database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02336" y="36027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Immutable JSON blobs per agent address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02336" y="38313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Repayment records, collateral ratios, score audit log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02336" y="40599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Historical data feeds back into AI scoring model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02336" y="42885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Petabyte-scale, dual-layer architecture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02336" y="4517136"/>
            <a:ext cx="3913632" cy="182880"/>
          </a:xfrm>
          <a:prstGeom prst="rect">
            <a:avLst/>
          </a:prstGeom>
          <a:solidFill>
            <a:srgbClr val="101C2C"/>
          </a:solidFill>
          <a:ln w="7620">
            <a:solidFill>
              <a:srgbClr val="21365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5171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storage.upload(creditHistory, agentAddr)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617720" y="3200400"/>
            <a:ext cx="4160520" cy="1536192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17720" y="3200400"/>
            <a:ext cx="4160520" cy="22860"/>
          </a:xfrm>
          <a:prstGeom prst="rect">
            <a:avLst/>
          </a:prstGeom>
          <a:solidFill>
            <a:srgbClr val="8B2FFF"/>
          </a:solidFill>
          <a:ln/>
        </p:spPr>
      </p:sp>
      <p:sp>
        <p:nvSpPr>
          <p:cNvPr id="79" name="Text 77"/>
          <p:cNvSpPr/>
          <p:nvPr/>
        </p:nvSpPr>
        <p:spPr>
          <a:xfrm>
            <a:off x="4745736" y="3291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0G Pay</a:t>
            </a:r>
            <a:pPr indent="0" marL="0">
              <a:buNone/>
            </a:pPr>
            <a:r>
              <a:rPr lang="en-US" sz="105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Payment Settlement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4745736" y="36027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Interest payments routed through 0G Pay rails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745736" y="38313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Protocol revenue collected on-chain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745736" y="40599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AI agents pay seamlessly with native infra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745736" y="42885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Microtransaction-optimized settlement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745736" y="4517136"/>
            <a:ext cx="3913632" cy="182880"/>
          </a:xfrm>
          <a:prstGeom prst="rect">
            <a:avLst/>
          </a:prstGeom>
          <a:solidFill>
            <a:srgbClr val="101C2C"/>
          </a:solidFill>
          <a:ln w="7620">
            <a:solidFill>
              <a:srgbClr val="21365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00600" y="45171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pay.transfer(interest, protocolWallet)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7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103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66344" cy="274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466344" cy="27432"/>
          </a:xfrm>
          <a:prstGeom prst="rect">
            <a:avLst/>
          </a:prstGeom>
          <a:solidFill>
            <a:srgbClr val="01C9F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0"/>
            <a:ext cx="466344" cy="27432"/>
          </a:xfrm>
          <a:prstGeom prst="rect">
            <a:avLst/>
          </a:prstGeom>
          <a:solidFill>
            <a:srgbClr val="02C3FD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0"/>
            <a:ext cx="466344" cy="27432"/>
          </a:xfrm>
          <a:prstGeom prst="rect">
            <a:avLst/>
          </a:prstGeom>
          <a:solidFill>
            <a:srgbClr val="02BDFC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0"/>
            <a:ext cx="466344" cy="27432"/>
          </a:xfrm>
          <a:prstGeom prst="rect">
            <a:avLst/>
          </a:prstGeom>
          <a:solidFill>
            <a:srgbClr val="03B8F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0"/>
            <a:ext cx="466344" cy="27432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466344" cy="27432"/>
          </a:xfrm>
          <a:prstGeom prst="rect">
            <a:avLst/>
          </a:prstGeom>
          <a:solidFill>
            <a:srgbClr val="05A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0"/>
            <a:ext cx="466344" cy="27432"/>
          </a:xfrm>
          <a:prstGeom prst="rect">
            <a:avLst/>
          </a:prstGeom>
          <a:solidFill>
            <a:srgbClr val="05A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0"/>
            <a:ext cx="466344" cy="27432"/>
          </a:xfrm>
          <a:prstGeom prst="rect">
            <a:avLst/>
          </a:prstGeom>
          <a:solidFill>
            <a:srgbClr val="06A0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0"/>
            <a:ext cx="466344" cy="27432"/>
          </a:xfrm>
          <a:prstGeom prst="rect">
            <a:avLst/>
          </a:prstGeom>
          <a:solidFill>
            <a:srgbClr val="079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0"/>
            <a:ext cx="466344" cy="27432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0"/>
            <a:ext cx="466344" cy="27432"/>
          </a:xfrm>
          <a:prstGeom prst="rect">
            <a:avLst/>
          </a:prstGeom>
          <a:solidFill>
            <a:srgbClr val="088F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0"/>
            <a:ext cx="466344" cy="27432"/>
          </a:xfrm>
          <a:prstGeom prst="rect">
            <a:avLst/>
          </a:prstGeom>
          <a:solidFill>
            <a:srgbClr val="0989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0"/>
            <a:ext cx="466344" cy="27432"/>
          </a:xfrm>
          <a:prstGeom prst="rect">
            <a:avLst/>
          </a:prstGeom>
          <a:solidFill>
            <a:srgbClr val="0A8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0"/>
            <a:ext cx="466344" cy="27432"/>
          </a:xfrm>
          <a:prstGeom prst="rect">
            <a:avLst/>
          </a:prstGeom>
          <a:solidFill>
            <a:srgbClr val="0B7D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0"/>
            <a:ext cx="466344" cy="27432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0"/>
            <a:ext cx="466344" cy="27432"/>
          </a:xfrm>
          <a:prstGeom prst="rect">
            <a:avLst/>
          </a:prstGeom>
          <a:solidFill>
            <a:srgbClr val="0C71E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0"/>
            <a:ext cx="466344" cy="27432"/>
          </a:xfrm>
          <a:prstGeom prst="rect">
            <a:avLst/>
          </a:prstGeom>
          <a:solidFill>
            <a:srgbClr val="0D6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0"/>
            <a:ext cx="466344" cy="27432"/>
          </a:xfrm>
          <a:prstGeom prst="rect">
            <a:avLst/>
          </a:prstGeom>
          <a:solidFill>
            <a:srgbClr val="0E6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0"/>
            <a:ext cx="466344" cy="27432"/>
          </a:xfrm>
          <a:prstGeom prst="rect">
            <a:avLst/>
          </a:prstGeom>
          <a:solidFill>
            <a:srgbClr val="0E60E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64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AI SCORING MODEL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"/>
            <a:ext cx="352044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" y="475488"/>
            <a:ext cx="352044" cy="22860"/>
          </a:xfrm>
          <a:prstGeom prst="rect">
            <a:avLst/>
          </a:prstGeom>
          <a:solidFill>
            <a:srgbClr val="01C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75488"/>
            <a:ext cx="352044" cy="22860"/>
          </a:xfrm>
          <a:prstGeom prst="rect">
            <a:avLst/>
          </a:prstGeom>
          <a:solidFill>
            <a:srgbClr val="01C5FD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5900" y="475488"/>
            <a:ext cx="352044" cy="22860"/>
          </a:xfrm>
          <a:prstGeom prst="rect">
            <a:avLst/>
          </a:prstGeom>
          <a:solidFill>
            <a:srgbClr val="02C0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0" y="475488"/>
            <a:ext cx="352044" cy="22860"/>
          </a:xfrm>
          <a:prstGeom prst="rect">
            <a:avLst/>
          </a:prstGeom>
          <a:solidFill>
            <a:srgbClr val="03BCFB"/>
          </a:solidFill>
          <a:ln/>
        </p:spPr>
      </p:sp>
      <p:sp>
        <p:nvSpPr>
          <p:cNvPr id="30" name="Shape 28"/>
          <p:cNvSpPr/>
          <p:nvPr/>
        </p:nvSpPr>
        <p:spPr>
          <a:xfrm>
            <a:off x="2171700" y="475488"/>
            <a:ext cx="352044" cy="22860"/>
          </a:xfrm>
          <a:prstGeom prst="rect">
            <a:avLst/>
          </a:prstGeom>
          <a:solidFill>
            <a:srgbClr val="03B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475488"/>
            <a:ext cx="352044" cy="22860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857500" y="475488"/>
            <a:ext cx="352044" cy="22860"/>
          </a:xfrm>
          <a:prstGeom prst="rect">
            <a:avLst/>
          </a:prstGeom>
          <a:solidFill>
            <a:srgbClr val="04A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475488"/>
            <a:ext cx="352044" cy="22860"/>
          </a:xfrm>
          <a:prstGeom prst="rect">
            <a:avLst/>
          </a:prstGeom>
          <a:solidFill>
            <a:srgbClr val="05A8F7"/>
          </a:solidFill>
          <a:ln/>
        </p:spPr>
      </p:sp>
      <p:sp>
        <p:nvSpPr>
          <p:cNvPr id="34" name="Shape 32"/>
          <p:cNvSpPr/>
          <p:nvPr/>
        </p:nvSpPr>
        <p:spPr>
          <a:xfrm>
            <a:off x="3543300" y="475488"/>
            <a:ext cx="352044" cy="22860"/>
          </a:xfrm>
          <a:prstGeom prst="rect">
            <a:avLst/>
          </a:prstGeom>
          <a:solidFill>
            <a:srgbClr val="06A3F6"/>
          </a:solidFill>
          <a:ln/>
        </p:spPr>
      </p:sp>
      <p:sp>
        <p:nvSpPr>
          <p:cNvPr id="35" name="Shape 33"/>
          <p:cNvSpPr/>
          <p:nvPr/>
        </p:nvSpPr>
        <p:spPr>
          <a:xfrm>
            <a:off x="3886200" y="475488"/>
            <a:ext cx="352044" cy="22860"/>
          </a:xfrm>
          <a:prstGeom prst="rect">
            <a:avLst/>
          </a:prstGeom>
          <a:solidFill>
            <a:srgbClr val="069EF5"/>
          </a:solidFill>
          <a:ln/>
        </p:spPr>
      </p:sp>
      <p:sp>
        <p:nvSpPr>
          <p:cNvPr id="36" name="Shape 34"/>
          <p:cNvSpPr/>
          <p:nvPr/>
        </p:nvSpPr>
        <p:spPr>
          <a:xfrm>
            <a:off x="4229100" y="475488"/>
            <a:ext cx="352044" cy="22860"/>
          </a:xfrm>
          <a:prstGeom prst="rect">
            <a:avLst/>
          </a:prstGeom>
          <a:solidFill>
            <a:srgbClr val="0799F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475488"/>
            <a:ext cx="352044" cy="22860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4900" y="475488"/>
            <a:ext cx="352044" cy="22860"/>
          </a:xfrm>
          <a:prstGeom prst="rect">
            <a:avLst/>
          </a:prstGeom>
          <a:solidFill>
            <a:srgbClr val="0890F3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475488"/>
            <a:ext cx="352044" cy="22860"/>
          </a:xfrm>
          <a:prstGeom prst="rect">
            <a:avLst/>
          </a:prstGeom>
          <a:solidFill>
            <a:srgbClr val="098BF2"/>
          </a:solidFill>
          <a:ln/>
        </p:spPr>
      </p:sp>
      <p:sp>
        <p:nvSpPr>
          <p:cNvPr id="40" name="Shape 38"/>
          <p:cNvSpPr/>
          <p:nvPr/>
        </p:nvSpPr>
        <p:spPr>
          <a:xfrm>
            <a:off x="5600700" y="475488"/>
            <a:ext cx="352044" cy="22860"/>
          </a:xfrm>
          <a:prstGeom prst="rect">
            <a:avLst/>
          </a:prstGeom>
          <a:solidFill>
            <a:srgbClr val="0986F1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475488"/>
            <a:ext cx="352044" cy="22860"/>
          </a:xfrm>
          <a:prstGeom prst="rect">
            <a:avLst/>
          </a:prstGeom>
          <a:solidFill>
            <a:srgbClr val="0A81F0"/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475488"/>
            <a:ext cx="352044" cy="22860"/>
          </a:xfrm>
          <a:prstGeom prst="rect">
            <a:avLst/>
          </a:prstGeom>
          <a:solidFill>
            <a:srgbClr val="0B7CE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9400" y="475488"/>
            <a:ext cx="352044" cy="22860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44" name="Shape 42"/>
          <p:cNvSpPr/>
          <p:nvPr/>
        </p:nvSpPr>
        <p:spPr>
          <a:xfrm>
            <a:off x="6972300" y="475488"/>
            <a:ext cx="352044" cy="22860"/>
          </a:xfrm>
          <a:prstGeom prst="rect">
            <a:avLst/>
          </a:prstGeom>
          <a:solidFill>
            <a:srgbClr val="0C72ED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0" y="475488"/>
            <a:ext cx="352044" cy="22860"/>
          </a:xfrm>
          <a:prstGeom prst="rect">
            <a:avLst/>
          </a:prstGeom>
          <a:solidFill>
            <a:srgbClr val="0D6EEC"/>
          </a:solidFill>
          <a:ln/>
        </p:spPr>
      </p:sp>
      <p:sp>
        <p:nvSpPr>
          <p:cNvPr id="46" name="Shape 44"/>
          <p:cNvSpPr/>
          <p:nvPr/>
        </p:nvSpPr>
        <p:spPr>
          <a:xfrm>
            <a:off x="7658100" y="475488"/>
            <a:ext cx="352044" cy="22860"/>
          </a:xfrm>
          <a:prstGeom prst="rect">
            <a:avLst/>
          </a:prstGeom>
          <a:solidFill>
            <a:srgbClr val="0D69EB"/>
          </a:solidFill>
          <a:ln/>
        </p:spPr>
      </p:sp>
      <p:sp>
        <p:nvSpPr>
          <p:cNvPr id="47" name="Shape 45"/>
          <p:cNvSpPr/>
          <p:nvPr/>
        </p:nvSpPr>
        <p:spPr>
          <a:xfrm>
            <a:off x="8001000" y="475488"/>
            <a:ext cx="352044" cy="22860"/>
          </a:xfrm>
          <a:prstGeom prst="rect">
            <a:avLst/>
          </a:prstGeom>
          <a:solidFill>
            <a:srgbClr val="0E64EA"/>
          </a:solidFill>
          <a:ln/>
        </p:spPr>
      </p:sp>
      <p:sp>
        <p:nvSpPr>
          <p:cNvPr id="48" name="Shape 46"/>
          <p:cNvSpPr/>
          <p:nvPr/>
        </p:nvSpPr>
        <p:spPr>
          <a:xfrm>
            <a:off x="8343900" y="475488"/>
            <a:ext cx="352044" cy="22860"/>
          </a:xfrm>
          <a:prstGeom prst="rect">
            <a:avLst/>
          </a:prstGeom>
          <a:solidFill>
            <a:srgbClr val="0E5FE9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6692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5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Model on 0G Compute</a:t>
            </a:r>
            <a:endParaRPr lang="en-US" sz="2800" dirty="0"/>
          </a:p>
        </p:txBody>
      </p:sp>
      <p:sp>
        <p:nvSpPr>
          <p:cNvPr id="50" name="Shape 48"/>
          <p:cNvSpPr/>
          <p:nvPr/>
        </p:nvSpPr>
        <p:spPr>
          <a:xfrm>
            <a:off x="457200" y="1417320"/>
            <a:ext cx="1371600" cy="228600"/>
          </a:xfrm>
          <a:prstGeom prst="rect">
            <a:avLst/>
          </a:prstGeom>
          <a:solidFill>
            <a:srgbClr val="FF3560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16642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High-Risk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828800" y="1417320"/>
            <a:ext cx="1371600" cy="228600"/>
          </a:xfrm>
          <a:prstGeom prst="rect">
            <a:avLst/>
          </a:prstGeom>
          <a:solidFill>
            <a:srgbClr val="FF6B40"/>
          </a:solidFill>
          <a:ln/>
        </p:spPr>
      </p:sp>
      <p:sp>
        <p:nvSpPr>
          <p:cNvPr id="53" name="Text 51"/>
          <p:cNvSpPr/>
          <p:nvPr/>
        </p:nvSpPr>
        <p:spPr>
          <a:xfrm>
            <a:off x="1828800" y="16642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0400" y="1417320"/>
            <a:ext cx="1371600" cy="22860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0" y="16642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0" y="1417320"/>
            <a:ext cx="1371600" cy="228600"/>
          </a:xfrm>
          <a:prstGeom prst="rect">
            <a:avLst/>
          </a:prstGeom>
          <a:solidFill>
            <a:srgbClr val="D8C830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0" y="16642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943600" y="1417320"/>
            <a:ext cx="1371600" cy="228600"/>
          </a:xfrm>
          <a:prstGeom prst="rect">
            <a:avLst/>
          </a:prstGeom>
          <a:solidFill>
            <a:srgbClr val="80D858"/>
          </a:solidFill>
          <a:ln/>
        </p:spPr>
      </p:sp>
      <p:sp>
        <p:nvSpPr>
          <p:cNvPr id="59" name="Text 57"/>
          <p:cNvSpPr/>
          <p:nvPr/>
        </p:nvSpPr>
        <p:spPr>
          <a:xfrm>
            <a:off x="5943600" y="16642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315200" y="1417320"/>
            <a:ext cx="1371600" cy="228600"/>
          </a:xfrm>
          <a:prstGeom prst="rect">
            <a:avLst/>
          </a:prstGeom>
          <a:solidFill>
            <a:srgbClr val="00EF9F"/>
          </a:solidFill>
          <a:ln/>
        </p:spPr>
      </p:sp>
      <p:sp>
        <p:nvSpPr>
          <p:cNvPr id="61" name="Text 59"/>
          <p:cNvSpPr/>
          <p:nvPr/>
        </p:nvSpPr>
        <p:spPr>
          <a:xfrm>
            <a:off x="7315200" y="16642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65760" y="2084832"/>
            <a:ext cx="4160520" cy="269748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21762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WEIGHTS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48640" y="2468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5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Repayment Rate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066544" y="2523744"/>
            <a:ext cx="2103120" cy="137160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66" name="Shape 64"/>
          <p:cNvSpPr/>
          <p:nvPr/>
        </p:nvSpPr>
        <p:spPr>
          <a:xfrm>
            <a:off x="2066544" y="2523744"/>
            <a:ext cx="2103120" cy="1371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206240" y="24688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526280" y="24688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repayments / total borrows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48640" y="28986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5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Rate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066544" y="2953512"/>
            <a:ext cx="2103120" cy="137160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71" name="Shape 69"/>
          <p:cNvSpPr/>
          <p:nvPr/>
        </p:nvSpPr>
        <p:spPr>
          <a:xfrm>
            <a:off x="2066544" y="2953512"/>
            <a:ext cx="1502229" cy="137160"/>
          </a:xfrm>
          <a:prstGeom prst="rect">
            <a:avLst/>
          </a:prstGeom>
          <a:solidFill>
            <a:srgbClr val="FF3560"/>
          </a:solidFill>
          <a:ln/>
        </p:spPr>
      </p:sp>
      <p:sp>
        <p:nvSpPr>
          <p:cNvPr id="72" name="Text 70"/>
          <p:cNvSpPr/>
          <p:nvPr/>
        </p:nvSpPr>
        <p:spPr>
          <a:xfrm>
            <a:off x="4206240" y="289864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FF3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26280" y="28986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penalises defaults heavily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48640" y="33284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5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066544" y="3383280"/>
            <a:ext cx="2103120" cy="137160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76" name="Shape 74"/>
          <p:cNvSpPr/>
          <p:nvPr/>
        </p:nvSpPr>
        <p:spPr>
          <a:xfrm>
            <a:off x="2066544" y="3383280"/>
            <a:ext cx="901337" cy="137160"/>
          </a:xfrm>
          <a:prstGeom prst="rect">
            <a:avLst/>
          </a:prstGeom>
          <a:solidFill>
            <a:srgbClr val="00EF9F"/>
          </a:solidFill>
          <a:ln/>
        </p:spPr>
      </p:sp>
      <p:sp>
        <p:nvSpPr>
          <p:cNvPr id="77" name="Text 75"/>
          <p:cNvSpPr/>
          <p:nvPr/>
        </p:nvSpPr>
        <p:spPr>
          <a:xfrm>
            <a:off x="4206240" y="332841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526280" y="332841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ratio: deposited / borrowed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48640" y="37581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5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 Speed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066544" y="3813048"/>
            <a:ext cx="2103120" cy="137160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81" name="Shape 79"/>
          <p:cNvSpPr/>
          <p:nvPr/>
        </p:nvSpPr>
        <p:spPr>
          <a:xfrm>
            <a:off x="2066544" y="3813048"/>
            <a:ext cx="901337" cy="1371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2" name="Text 80"/>
          <p:cNvSpPr/>
          <p:nvPr/>
        </p:nvSpPr>
        <p:spPr>
          <a:xfrm>
            <a:off x="4206240" y="37581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526280" y="375818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= more creditworthy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48640" y="41879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5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Age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066544" y="4242816"/>
            <a:ext cx="2103120" cy="137160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86" name="Shape 84"/>
          <p:cNvSpPr/>
          <p:nvPr/>
        </p:nvSpPr>
        <p:spPr>
          <a:xfrm>
            <a:off x="2066544" y="4242816"/>
            <a:ext cx="600891" cy="137160"/>
          </a:xfrm>
          <a:prstGeom prst="rect">
            <a:avLst/>
          </a:prstGeom>
          <a:solidFill>
            <a:srgbClr val="8B2FFF"/>
          </a:solidFill>
          <a:ln/>
        </p:spPr>
      </p:sp>
      <p:sp>
        <p:nvSpPr>
          <p:cNvPr id="87" name="Text 85"/>
          <p:cNvSpPr/>
          <p:nvPr/>
        </p:nvSpPr>
        <p:spPr>
          <a:xfrm>
            <a:off x="4206240" y="41879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526280" y="41879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history = more trust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663440" y="2084832"/>
            <a:ext cx="4069080" cy="269748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46320" y="21762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→ LTV MAPPING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846320" y="24323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089904" y="24323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LTV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333488" y="24323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846320" y="2633472"/>
            <a:ext cx="3657600" cy="0"/>
          </a:xfrm>
          <a:prstGeom prst="line">
            <a:avLst/>
          </a:prstGeom>
          <a:noFill/>
          <a:ln w="6350">
            <a:solidFill>
              <a:srgbClr val="1A2E4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46320" y="27066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089904" y="27066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3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50.0%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315200" y="27066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3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846320" y="30083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6089904" y="30083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54.5%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7315200" y="30083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4846320" y="33101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6089904" y="33101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59.1%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7315200" y="33101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Sub-Prime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4846320" y="3611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6089904" y="3611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63.6%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315200" y="3611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Sub-Prime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4846320" y="39136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650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6089904" y="39136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65.9%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7315200" y="39136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Near-Prime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4846320" y="42153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750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6089904" y="42153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70.5%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7315200" y="42153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Near-Prime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4846320" y="45171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D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6089904" y="451713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75.0%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7315200" y="45171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7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103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66344" cy="274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466344" cy="27432"/>
          </a:xfrm>
          <a:prstGeom prst="rect">
            <a:avLst/>
          </a:prstGeom>
          <a:solidFill>
            <a:srgbClr val="01C9F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0"/>
            <a:ext cx="466344" cy="27432"/>
          </a:xfrm>
          <a:prstGeom prst="rect">
            <a:avLst/>
          </a:prstGeom>
          <a:solidFill>
            <a:srgbClr val="02C3FD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0"/>
            <a:ext cx="466344" cy="27432"/>
          </a:xfrm>
          <a:prstGeom prst="rect">
            <a:avLst/>
          </a:prstGeom>
          <a:solidFill>
            <a:srgbClr val="02BDFC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0"/>
            <a:ext cx="466344" cy="27432"/>
          </a:xfrm>
          <a:prstGeom prst="rect">
            <a:avLst/>
          </a:prstGeom>
          <a:solidFill>
            <a:srgbClr val="03B8F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0"/>
            <a:ext cx="466344" cy="27432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466344" cy="27432"/>
          </a:xfrm>
          <a:prstGeom prst="rect">
            <a:avLst/>
          </a:prstGeom>
          <a:solidFill>
            <a:srgbClr val="05A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0"/>
            <a:ext cx="466344" cy="27432"/>
          </a:xfrm>
          <a:prstGeom prst="rect">
            <a:avLst/>
          </a:prstGeom>
          <a:solidFill>
            <a:srgbClr val="05A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0"/>
            <a:ext cx="466344" cy="27432"/>
          </a:xfrm>
          <a:prstGeom prst="rect">
            <a:avLst/>
          </a:prstGeom>
          <a:solidFill>
            <a:srgbClr val="06A0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0"/>
            <a:ext cx="466344" cy="27432"/>
          </a:xfrm>
          <a:prstGeom prst="rect">
            <a:avLst/>
          </a:prstGeom>
          <a:solidFill>
            <a:srgbClr val="079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0"/>
            <a:ext cx="466344" cy="27432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0"/>
            <a:ext cx="466344" cy="27432"/>
          </a:xfrm>
          <a:prstGeom prst="rect">
            <a:avLst/>
          </a:prstGeom>
          <a:solidFill>
            <a:srgbClr val="088F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0"/>
            <a:ext cx="466344" cy="27432"/>
          </a:xfrm>
          <a:prstGeom prst="rect">
            <a:avLst/>
          </a:prstGeom>
          <a:solidFill>
            <a:srgbClr val="0989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0"/>
            <a:ext cx="466344" cy="27432"/>
          </a:xfrm>
          <a:prstGeom prst="rect">
            <a:avLst/>
          </a:prstGeom>
          <a:solidFill>
            <a:srgbClr val="0A8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0"/>
            <a:ext cx="466344" cy="27432"/>
          </a:xfrm>
          <a:prstGeom prst="rect">
            <a:avLst/>
          </a:prstGeom>
          <a:solidFill>
            <a:srgbClr val="0B7D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0"/>
            <a:ext cx="466344" cy="27432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0"/>
            <a:ext cx="466344" cy="27432"/>
          </a:xfrm>
          <a:prstGeom prst="rect">
            <a:avLst/>
          </a:prstGeom>
          <a:solidFill>
            <a:srgbClr val="0C71E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0"/>
            <a:ext cx="466344" cy="27432"/>
          </a:xfrm>
          <a:prstGeom prst="rect">
            <a:avLst/>
          </a:prstGeom>
          <a:solidFill>
            <a:srgbClr val="0D6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0"/>
            <a:ext cx="466344" cy="27432"/>
          </a:xfrm>
          <a:prstGeom prst="rect">
            <a:avLst/>
          </a:prstGeom>
          <a:solidFill>
            <a:srgbClr val="0E6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0"/>
            <a:ext cx="466344" cy="27432"/>
          </a:xfrm>
          <a:prstGeom prst="rect">
            <a:avLst/>
          </a:prstGeom>
          <a:solidFill>
            <a:srgbClr val="0E60E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64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SYSTEM ARCHITECTURE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"/>
            <a:ext cx="352044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" y="475488"/>
            <a:ext cx="352044" cy="22860"/>
          </a:xfrm>
          <a:prstGeom prst="rect">
            <a:avLst/>
          </a:prstGeom>
          <a:solidFill>
            <a:srgbClr val="01C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75488"/>
            <a:ext cx="352044" cy="22860"/>
          </a:xfrm>
          <a:prstGeom prst="rect">
            <a:avLst/>
          </a:prstGeom>
          <a:solidFill>
            <a:srgbClr val="01C5FD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5900" y="475488"/>
            <a:ext cx="352044" cy="22860"/>
          </a:xfrm>
          <a:prstGeom prst="rect">
            <a:avLst/>
          </a:prstGeom>
          <a:solidFill>
            <a:srgbClr val="02C0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0" y="475488"/>
            <a:ext cx="352044" cy="22860"/>
          </a:xfrm>
          <a:prstGeom prst="rect">
            <a:avLst/>
          </a:prstGeom>
          <a:solidFill>
            <a:srgbClr val="03BCFB"/>
          </a:solidFill>
          <a:ln/>
        </p:spPr>
      </p:sp>
      <p:sp>
        <p:nvSpPr>
          <p:cNvPr id="30" name="Shape 28"/>
          <p:cNvSpPr/>
          <p:nvPr/>
        </p:nvSpPr>
        <p:spPr>
          <a:xfrm>
            <a:off x="2171700" y="475488"/>
            <a:ext cx="352044" cy="22860"/>
          </a:xfrm>
          <a:prstGeom prst="rect">
            <a:avLst/>
          </a:prstGeom>
          <a:solidFill>
            <a:srgbClr val="03B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475488"/>
            <a:ext cx="352044" cy="22860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857500" y="475488"/>
            <a:ext cx="352044" cy="22860"/>
          </a:xfrm>
          <a:prstGeom prst="rect">
            <a:avLst/>
          </a:prstGeom>
          <a:solidFill>
            <a:srgbClr val="04A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475488"/>
            <a:ext cx="352044" cy="22860"/>
          </a:xfrm>
          <a:prstGeom prst="rect">
            <a:avLst/>
          </a:prstGeom>
          <a:solidFill>
            <a:srgbClr val="05A8F7"/>
          </a:solidFill>
          <a:ln/>
        </p:spPr>
      </p:sp>
      <p:sp>
        <p:nvSpPr>
          <p:cNvPr id="34" name="Shape 32"/>
          <p:cNvSpPr/>
          <p:nvPr/>
        </p:nvSpPr>
        <p:spPr>
          <a:xfrm>
            <a:off x="3543300" y="475488"/>
            <a:ext cx="352044" cy="22860"/>
          </a:xfrm>
          <a:prstGeom prst="rect">
            <a:avLst/>
          </a:prstGeom>
          <a:solidFill>
            <a:srgbClr val="06A3F6"/>
          </a:solidFill>
          <a:ln/>
        </p:spPr>
      </p:sp>
      <p:sp>
        <p:nvSpPr>
          <p:cNvPr id="35" name="Shape 33"/>
          <p:cNvSpPr/>
          <p:nvPr/>
        </p:nvSpPr>
        <p:spPr>
          <a:xfrm>
            <a:off x="3886200" y="475488"/>
            <a:ext cx="352044" cy="22860"/>
          </a:xfrm>
          <a:prstGeom prst="rect">
            <a:avLst/>
          </a:prstGeom>
          <a:solidFill>
            <a:srgbClr val="069EF5"/>
          </a:solidFill>
          <a:ln/>
        </p:spPr>
      </p:sp>
      <p:sp>
        <p:nvSpPr>
          <p:cNvPr id="36" name="Shape 34"/>
          <p:cNvSpPr/>
          <p:nvPr/>
        </p:nvSpPr>
        <p:spPr>
          <a:xfrm>
            <a:off x="4229100" y="475488"/>
            <a:ext cx="352044" cy="22860"/>
          </a:xfrm>
          <a:prstGeom prst="rect">
            <a:avLst/>
          </a:prstGeom>
          <a:solidFill>
            <a:srgbClr val="0799F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475488"/>
            <a:ext cx="352044" cy="22860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4900" y="475488"/>
            <a:ext cx="352044" cy="22860"/>
          </a:xfrm>
          <a:prstGeom prst="rect">
            <a:avLst/>
          </a:prstGeom>
          <a:solidFill>
            <a:srgbClr val="0890F3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475488"/>
            <a:ext cx="352044" cy="22860"/>
          </a:xfrm>
          <a:prstGeom prst="rect">
            <a:avLst/>
          </a:prstGeom>
          <a:solidFill>
            <a:srgbClr val="098BF2"/>
          </a:solidFill>
          <a:ln/>
        </p:spPr>
      </p:sp>
      <p:sp>
        <p:nvSpPr>
          <p:cNvPr id="40" name="Shape 38"/>
          <p:cNvSpPr/>
          <p:nvPr/>
        </p:nvSpPr>
        <p:spPr>
          <a:xfrm>
            <a:off x="5600700" y="475488"/>
            <a:ext cx="352044" cy="22860"/>
          </a:xfrm>
          <a:prstGeom prst="rect">
            <a:avLst/>
          </a:prstGeom>
          <a:solidFill>
            <a:srgbClr val="0986F1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475488"/>
            <a:ext cx="352044" cy="22860"/>
          </a:xfrm>
          <a:prstGeom prst="rect">
            <a:avLst/>
          </a:prstGeom>
          <a:solidFill>
            <a:srgbClr val="0A81F0"/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475488"/>
            <a:ext cx="352044" cy="22860"/>
          </a:xfrm>
          <a:prstGeom prst="rect">
            <a:avLst/>
          </a:prstGeom>
          <a:solidFill>
            <a:srgbClr val="0B7CE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9400" y="475488"/>
            <a:ext cx="352044" cy="22860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44" name="Shape 42"/>
          <p:cNvSpPr/>
          <p:nvPr/>
        </p:nvSpPr>
        <p:spPr>
          <a:xfrm>
            <a:off x="6972300" y="475488"/>
            <a:ext cx="352044" cy="22860"/>
          </a:xfrm>
          <a:prstGeom prst="rect">
            <a:avLst/>
          </a:prstGeom>
          <a:solidFill>
            <a:srgbClr val="0C72ED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0" y="475488"/>
            <a:ext cx="352044" cy="22860"/>
          </a:xfrm>
          <a:prstGeom prst="rect">
            <a:avLst/>
          </a:prstGeom>
          <a:solidFill>
            <a:srgbClr val="0D6EEC"/>
          </a:solidFill>
          <a:ln/>
        </p:spPr>
      </p:sp>
      <p:sp>
        <p:nvSpPr>
          <p:cNvPr id="46" name="Shape 44"/>
          <p:cNvSpPr/>
          <p:nvPr/>
        </p:nvSpPr>
        <p:spPr>
          <a:xfrm>
            <a:off x="7658100" y="475488"/>
            <a:ext cx="352044" cy="22860"/>
          </a:xfrm>
          <a:prstGeom prst="rect">
            <a:avLst/>
          </a:prstGeom>
          <a:solidFill>
            <a:srgbClr val="0D69EB"/>
          </a:solidFill>
          <a:ln/>
        </p:spPr>
      </p:sp>
      <p:sp>
        <p:nvSpPr>
          <p:cNvPr id="47" name="Shape 45"/>
          <p:cNvSpPr/>
          <p:nvPr/>
        </p:nvSpPr>
        <p:spPr>
          <a:xfrm>
            <a:off x="8001000" y="475488"/>
            <a:ext cx="352044" cy="22860"/>
          </a:xfrm>
          <a:prstGeom prst="rect">
            <a:avLst/>
          </a:prstGeom>
          <a:solidFill>
            <a:srgbClr val="0E64EA"/>
          </a:solidFill>
          <a:ln/>
        </p:spPr>
      </p:sp>
      <p:sp>
        <p:nvSpPr>
          <p:cNvPr id="48" name="Shape 46"/>
          <p:cNvSpPr/>
          <p:nvPr/>
        </p:nvSpPr>
        <p:spPr>
          <a:xfrm>
            <a:off x="8343900" y="475488"/>
            <a:ext cx="352044" cy="22860"/>
          </a:xfrm>
          <a:prstGeom prst="rect">
            <a:avLst/>
          </a:prstGeom>
          <a:solidFill>
            <a:srgbClr val="0E5FE9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66928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5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All Connects</a:t>
            </a:r>
            <a:endParaRPr lang="en-US" sz="2800" dirty="0"/>
          </a:p>
        </p:txBody>
      </p:sp>
      <p:sp>
        <p:nvSpPr>
          <p:cNvPr id="50" name="Shape 48"/>
          <p:cNvSpPr/>
          <p:nvPr/>
        </p:nvSpPr>
        <p:spPr>
          <a:xfrm>
            <a:off x="274320" y="1508760"/>
            <a:ext cx="1828800" cy="594360"/>
          </a:xfrm>
          <a:prstGeom prst="rect">
            <a:avLst/>
          </a:prstGeom>
          <a:solidFill>
            <a:srgbClr val="0C1420"/>
          </a:solidFill>
          <a:ln w="7620">
            <a:solidFill>
              <a:srgbClr val="3F607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1508760"/>
            <a:ext cx="1828800" cy="22860"/>
          </a:xfrm>
          <a:prstGeom prst="rect">
            <a:avLst/>
          </a:prstGeom>
          <a:solidFill>
            <a:srgbClr val="3F607E"/>
          </a:solidFill>
          <a:ln/>
        </p:spPr>
      </p:sp>
      <p:sp>
        <p:nvSpPr>
          <p:cNvPr id="52" name="Text 50"/>
          <p:cNvSpPr/>
          <p:nvPr/>
        </p:nvSpPr>
        <p:spPr>
          <a:xfrm>
            <a:off x="384048" y="158191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Agent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84048" y="1837944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dApp + MetaMask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566160" y="1508760"/>
            <a:ext cx="2286000" cy="594360"/>
          </a:xfrm>
          <a:prstGeom prst="rect">
            <a:avLst/>
          </a:prstGeom>
          <a:solidFill>
            <a:srgbClr val="0C1420"/>
          </a:solidFill>
          <a:ln w="7620">
            <a:solidFill>
              <a:srgbClr val="00C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6160" y="1508760"/>
            <a:ext cx="2286000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6" name="Text 54"/>
          <p:cNvSpPr/>
          <p:nvPr/>
        </p:nvSpPr>
        <p:spPr>
          <a:xfrm>
            <a:off x="3675888" y="158191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CreditFi.sol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75888" y="1837944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0G Chain · EVM Contract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675120" y="1508760"/>
            <a:ext cx="2011680" cy="594360"/>
          </a:xfrm>
          <a:prstGeom prst="rect">
            <a:avLst/>
          </a:prstGeom>
          <a:solidFill>
            <a:srgbClr val="0C1420"/>
          </a:solidFill>
          <a:ln w="7620">
            <a:solidFill>
              <a:srgbClr val="00C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75120" y="1508760"/>
            <a:ext cx="2011680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784848" y="158191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Lending Pool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784848" y="183794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 Token Collateral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566160" y="2788920"/>
            <a:ext cx="2286000" cy="594360"/>
          </a:xfrm>
          <a:prstGeom prst="rect">
            <a:avLst/>
          </a:prstGeom>
          <a:solidFill>
            <a:srgbClr val="0C1420"/>
          </a:solidFill>
          <a:ln w="7620">
            <a:solidFill>
              <a:srgbClr val="00EF9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66160" y="2788920"/>
            <a:ext cx="2286000" cy="22860"/>
          </a:xfrm>
          <a:prstGeom prst="rect">
            <a:avLst/>
          </a:prstGeom>
          <a:solidFill>
            <a:srgbClr val="00EF9F"/>
          </a:solidFill>
          <a:ln/>
        </p:spPr>
      </p:sp>
      <p:sp>
        <p:nvSpPr>
          <p:cNvPr id="64" name="Text 62"/>
          <p:cNvSpPr/>
          <p:nvPr/>
        </p:nvSpPr>
        <p:spPr>
          <a:xfrm>
            <a:off x="3675888" y="286207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0G Compute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675888" y="3118104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Score Oracle · GBM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74320" y="2788920"/>
            <a:ext cx="1828800" cy="594360"/>
          </a:xfrm>
          <a:prstGeom prst="rect">
            <a:avLst/>
          </a:prstGeom>
          <a:solidFill>
            <a:srgbClr val="0C1420"/>
          </a:solidFill>
          <a:ln w="7620">
            <a:solidFill>
              <a:srgbClr val="FFB02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2788920"/>
            <a:ext cx="1828800" cy="228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8" name="Text 66"/>
          <p:cNvSpPr/>
          <p:nvPr/>
        </p:nvSpPr>
        <p:spPr>
          <a:xfrm>
            <a:off x="384048" y="286207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0G Storage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84048" y="3118104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 History Blobs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675120" y="2788920"/>
            <a:ext cx="2011680" cy="594360"/>
          </a:xfrm>
          <a:prstGeom prst="rect">
            <a:avLst/>
          </a:prstGeom>
          <a:solidFill>
            <a:srgbClr val="0C1420"/>
          </a:solidFill>
          <a:ln w="7620">
            <a:solidFill>
              <a:srgbClr val="8B2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675120" y="2788920"/>
            <a:ext cx="2011680" cy="22860"/>
          </a:xfrm>
          <a:prstGeom prst="rect">
            <a:avLst/>
          </a:prstGeom>
          <a:solidFill>
            <a:srgbClr val="8B2FFF"/>
          </a:solidFill>
          <a:ln/>
        </p:spPr>
      </p:sp>
      <p:sp>
        <p:nvSpPr>
          <p:cNvPr id="72" name="Text 70"/>
          <p:cNvSpPr/>
          <p:nvPr/>
        </p:nvSpPr>
        <p:spPr>
          <a:xfrm>
            <a:off x="6784848" y="286207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0G Pay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784848" y="311810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 Settlement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103120" y="1805940"/>
            <a:ext cx="1463040" cy="0"/>
          </a:xfrm>
          <a:prstGeom prst="line">
            <a:avLst/>
          </a:prstGeom>
          <a:noFill/>
          <a:ln w="12700">
            <a:solidFill>
              <a:srgbClr val="213652"/>
            </a:solidFill>
            <a:prstDash val="dash"/>
            <a:tailEnd type="open"/>
          </a:ln>
        </p:spPr>
      </p:sp>
      <p:sp>
        <p:nvSpPr>
          <p:cNvPr id="75" name="Text 73"/>
          <p:cNvSpPr/>
          <p:nvPr/>
        </p:nvSpPr>
        <p:spPr>
          <a:xfrm>
            <a:off x="2651760" y="16047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852160" y="1805940"/>
            <a:ext cx="822960" cy="0"/>
          </a:xfrm>
          <a:prstGeom prst="line">
            <a:avLst/>
          </a:prstGeom>
          <a:noFill/>
          <a:ln w="12700">
            <a:solidFill>
              <a:srgbClr val="213652"/>
            </a:solidFill>
            <a:prstDash val="dash"/>
            <a:tailEnd type="open"/>
          </a:ln>
        </p:spPr>
      </p:sp>
      <p:sp>
        <p:nvSpPr>
          <p:cNvPr id="77" name="Text 75"/>
          <p:cNvSpPr/>
          <p:nvPr/>
        </p:nvSpPr>
        <p:spPr>
          <a:xfrm>
            <a:off x="6080760" y="16047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709160" y="2103120"/>
            <a:ext cx="0" cy="685800"/>
          </a:xfrm>
          <a:prstGeom prst="line">
            <a:avLst/>
          </a:prstGeom>
          <a:noFill/>
          <a:ln w="12700">
            <a:solidFill>
              <a:srgbClr val="213652"/>
            </a:solidFill>
            <a:prstDash val="dash"/>
            <a:tailEnd type="open"/>
          </a:ln>
        </p:spPr>
      </p:sp>
      <p:sp>
        <p:nvSpPr>
          <p:cNvPr id="79" name="Text 77"/>
          <p:cNvSpPr/>
          <p:nvPr/>
        </p:nvSpPr>
        <p:spPr>
          <a:xfrm>
            <a:off x="4764024" y="23545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103120" y="3086100"/>
            <a:ext cx="1463040" cy="0"/>
          </a:xfrm>
          <a:prstGeom prst="line">
            <a:avLst/>
          </a:prstGeom>
          <a:noFill/>
          <a:ln w="12700">
            <a:solidFill>
              <a:srgbClr val="213652"/>
            </a:solidFill>
            <a:prstDash val="dash"/>
            <a:tailEnd type="open"/>
          </a:ln>
        </p:spPr>
      </p:sp>
      <p:sp>
        <p:nvSpPr>
          <p:cNvPr id="81" name="Text 79"/>
          <p:cNvSpPr/>
          <p:nvPr/>
        </p:nvSpPr>
        <p:spPr>
          <a:xfrm>
            <a:off x="2651760" y="28849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852160" y="3086100"/>
            <a:ext cx="822960" cy="0"/>
          </a:xfrm>
          <a:prstGeom prst="line">
            <a:avLst/>
          </a:prstGeom>
          <a:noFill/>
          <a:ln w="12700">
            <a:solidFill>
              <a:srgbClr val="213652"/>
            </a:solidFill>
            <a:prstDash val="dash"/>
            <a:tailEnd type="open"/>
          </a:ln>
        </p:spPr>
      </p:sp>
      <p:sp>
        <p:nvSpPr>
          <p:cNvPr id="83" name="Text 81"/>
          <p:cNvSpPr/>
          <p:nvPr/>
        </p:nvSpPr>
        <p:spPr>
          <a:xfrm>
            <a:off x="6080760" y="28849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74320" y="3657600"/>
            <a:ext cx="8595360" cy="384048"/>
          </a:xfrm>
          <a:prstGeom prst="rect">
            <a:avLst/>
          </a:prstGeom>
          <a:solidFill>
            <a:srgbClr val="101C2C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" y="37124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56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Flow: Agent → dApp → 0G Chain → (events) → 0G Compute → score oracle → 0G Chain · History: 0G Storage · Fees: 0G Pay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7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103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66344" cy="274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466344" cy="27432"/>
          </a:xfrm>
          <a:prstGeom prst="rect">
            <a:avLst/>
          </a:prstGeom>
          <a:solidFill>
            <a:srgbClr val="01C9F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0"/>
            <a:ext cx="466344" cy="27432"/>
          </a:xfrm>
          <a:prstGeom prst="rect">
            <a:avLst/>
          </a:prstGeom>
          <a:solidFill>
            <a:srgbClr val="02C3FD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0"/>
            <a:ext cx="466344" cy="27432"/>
          </a:xfrm>
          <a:prstGeom prst="rect">
            <a:avLst/>
          </a:prstGeom>
          <a:solidFill>
            <a:srgbClr val="02BDFC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0"/>
            <a:ext cx="466344" cy="27432"/>
          </a:xfrm>
          <a:prstGeom prst="rect">
            <a:avLst/>
          </a:prstGeom>
          <a:solidFill>
            <a:srgbClr val="03B8F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0"/>
            <a:ext cx="466344" cy="27432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466344" cy="27432"/>
          </a:xfrm>
          <a:prstGeom prst="rect">
            <a:avLst/>
          </a:prstGeom>
          <a:solidFill>
            <a:srgbClr val="05A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0"/>
            <a:ext cx="466344" cy="27432"/>
          </a:xfrm>
          <a:prstGeom prst="rect">
            <a:avLst/>
          </a:prstGeom>
          <a:solidFill>
            <a:srgbClr val="05A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0"/>
            <a:ext cx="466344" cy="27432"/>
          </a:xfrm>
          <a:prstGeom prst="rect">
            <a:avLst/>
          </a:prstGeom>
          <a:solidFill>
            <a:srgbClr val="06A0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0"/>
            <a:ext cx="466344" cy="27432"/>
          </a:xfrm>
          <a:prstGeom prst="rect">
            <a:avLst/>
          </a:prstGeom>
          <a:solidFill>
            <a:srgbClr val="079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0"/>
            <a:ext cx="466344" cy="27432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0"/>
            <a:ext cx="466344" cy="27432"/>
          </a:xfrm>
          <a:prstGeom prst="rect">
            <a:avLst/>
          </a:prstGeom>
          <a:solidFill>
            <a:srgbClr val="088F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0"/>
            <a:ext cx="466344" cy="27432"/>
          </a:xfrm>
          <a:prstGeom prst="rect">
            <a:avLst/>
          </a:prstGeom>
          <a:solidFill>
            <a:srgbClr val="0989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0"/>
            <a:ext cx="466344" cy="27432"/>
          </a:xfrm>
          <a:prstGeom prst="rect">
            <a:avLst/>
          </a:prstGeom>
          <a:solidFill>
            <a:srgbClr val="0A8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0"/>
            <a:ext cx="466344" cy="27432"/>
          </a:xfrm>
          <a:prstGeom prst="rect">
            <a:avLst/>
          </a:prstGeom>
          <a:solidFill>
            <a:srgbClr val="0B7D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0"/>
            <a:ext cx="466344" cy="27432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0"/>
            <a:ext cx="466344" cy="27432"/>
          </a:xfrm>
          <a:prstGeom prst="rect">
            <a:avLst/>
          </a:prstGeom>
          <a:solidFill>
            <a:srgbClr val="0C71E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0"/>
            <a:ext cx="466344" cy="27432"/>
          </a:xfrm>
          <a:prstGeom prst="rect">
            <a:avLst/>
          </a:prstGeom>
          <a:solidFill>
            <a:srgbClr val="0D6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0"/>
            <a:ext cx="466344" cy="27432"/>
          </a:xfrm>
          <a:prstGeom prst="rect">
            <a:avLst/>
          </a:prstGeom>
          <a:solidFill>
            <a:srgbClr val="0E6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0"/>
            <a:ext cx="466344" cy="27432"/>
          </a:xfrm>
          <a:prstGeom prst="rect">
            <a:avLst/>
          </a:prstGeom>
          <a:solidFill>
            <a:srgbClr val="0E60E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64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WAVE 1 DELIVERABLES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"/>
            <a:ext cx="352044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" y="475488"/>
            <a:ext cx="352044" cy="22860"/>
          </a:xfrm>
          <a:prstGeom prst="rect">
            <a:avLst/>
          </a:prstGeom>
          <a:solidFill>
            <a:srgbClr val="01C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75488"/>
            <a:ext cx="352044" cy="22860"/>
          </a:xfrm>
          <a:prstGeom prst="rect">
            <a:avLst/>
          </a:prstGeom>
          <a:solidFill>
            <a:srgbClr val="01C5FD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5900" y="475488"/>
            <a:ext cx="352044" cy="22860"/>
          </a:xfrm>
          <a:prstGeom prst="rect">
            <a:avLst/>
          </a:prstGeom>
          <a:solidFill>
            <a:srgbClr val="02C0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0" y="475488"/>
            <a:ext cx="352044" cy="22860"/>
          </a:xfrm>
          <a:prstGeom prst="rect">
            <a:avLst/>
          </a:prstGeom>
          <a:solidFill>
            <a:srgbClr val="03BCFB"/>
          </a:solidFill>
          <a:ln/>
        </p:spPr>
      </p:sp>
      <p:sp>
        <p:nvSpPr>
          <p:cNvPr id="30" name="Shape 28"/>
          <p:cNvSpPr/>
          <p:nvPr/>
        </p:nvSpPr>
        <p:spPr>
          <a:xfrm>
            <a:off x="2171700" y="475488"/>
            <a:ext cx="352044" cy="22860"/>
          </a:xfrm>
          <a:prstGeom prst="rect">
            <a:avLst/>
          </a:prstGeom>
          <a:solidFill>
            <a:srgbClr val="03B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475488"/>
            <a:ext cx="352044" cy="22860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857500" y="475488"/>
            <a:ext cx="352044" cy="22860"/>
          </a:xfrm>
          <a:prstGeom prst="rect">
            <a:avLst/>
          </a:prstGeom>
          <a:solidFill>
            <a:srgbClr val="04A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475488"/>
            <a:ext cx="352044" cy="22860"/>
          </a:xfrm>
          <a:prstGeom prst="rect">
            <a:avLst/>
          </a:prstGeom>
          <a:solidFill>
            <a:srgbClr val="05A8F7"/>
          </a:solidFill>
          <a:ln/>
        </p:spPr>
      </p:sp>
      <p:sp>
        <p:nvSpPr>
          <p:cNvPr id="34" name="Shape 32"/>
          <p:cNvSpPr/>
          <p:nvPr/>
        </p:nvSpPr>
        <p:spPr>
          <a:xfrm>
            <a:off x="3543300" y="475488"/>
            <a:ext cx="352044" cy="22860"/>
          </a:xfrm>
          <a:prstGeom prst="rect">
            <a:avLst/>
          </a:prstGeom>
          <a:solidFill>
            <a:srgbClr val="06A3F6"/>
          </a:solidFill>
          <a:ln/>
        </p:spPr>
      </p:sp>
      <p:sp>
        <p:nvSpPr>
          <p:cNvPr id="35" name="Shape 33"/>
          <p:cNvSpPr/>
          <p:nvPr/>
        </p:nvSpPr>
        <p:spPr>
          <a:xfrm>
            <a:off x="3886200" y="475488"/>
            <a:ext cx="352044" cy="22860"/>
          </a:xfrm>
          <a:prstGeom prst="rect">
            <a:avLst/>
          </a:prstGeom>
          <a:solidFill>
            <a:srgbClr val="069EF5"/>
          </a:solidFill>
          <a:ln/>
        </p:spPr>
      </p:sp>
      <p:sp>
        <p:nvSpPr>
          <p:cNvPr id="36" name="Shape 34"/>
          <p:cNvSpPr/>
          <p:nvPr/>
        </p:nvSpPr>
        <p:spPr>
          <a:xfrm>
            <a:off x="4229100" y="475488"/>
            <a:ext cx="352044" cy="22860"/>
          </a:xfrm>
          <a:prstGeom prst="rect">
            <a:avLst/>
          </a:prstGeom>
          <a:solidFill>
            <a:srgbClr val="0799F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475488"/>
            <a:ext cx="352044" cy="22860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4900" y="475488"/>
            <a:ext cx="352044" cy="22860"/>
          </a:xfrm>
          <a:prstGeom prst="rect">
            <a:avLst/>
          </a:prstGeom>
          <a:solidFill>
            <a:srgbClr val="0890F3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475488"/>
            <a:ext cx="352044" cy="22860"/>
          </a:xfrm>
          <a:prstGeom prst="rect">
            <a:avLst/>
          </a:prstGeom>
          <a:solidFill>
            <a:srgbClr val="098BF2"/>
          </a:solidFill>
          <a:ln/>
        </p:spPr>
      </p:sp>
      <p:sp>
        <p:nvSpPr>
          <p:cNvPr id="40" name="Shape 38"/>
          <p:cNvSpPr/>
          <p:nvPr/>
        </p:nvSpPr>
        <p:spPr>
          <a:xfrm>
            <a:off x="5600700" y="475488"/>
            <a:ext cx="352044" cy="22860"/>
          </a:xfrm>
          <a:prstGeom prst="rect">
            <a:avLst/>
          </a:prstGeom>
          <a:solidFill>
            <a:srgbClr val="0986F1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475488"/>
            <a:ext cx="352044" cy="22860"/>
          </a:xfrm>
          <a:prstGeom prst="rect">
            <a:avLst/>
          </a:prstGeom>
          <a:solidFill>
            <a:srgbClr val="0A81F0"/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475488"/>
            <a:ext cx="352044" cy="22860"/>
          </a:xfrm>
          <a:prstGeom prst="rect">
            <a:avLst/>
          </a:prstGeom>
          <a:solidFill>
            <a:srgbClr val="0B7CE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9400" y="475488"/>
            <a:ext cx="352044" cy="22860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44" name="Shape 42"/>
          <p:cNvSpPr/>
          <p:nvPr/>
        </p:nvSpPr>
        <p:spPr>
          <a:xfrm>
            <a:off x="6972300" y="475488"/>
            <a:ext cx="352044" cy="22860"/>
          </a:xfrm>
          <a:prstGeom prst="rect">
            <a:avLst/>
          </a:prstGeom>
          <a:solidFill>
            <a:srgbClr val="0C72ED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0" y="475488"/>
            <a:ext cx="352044" cy="22860"/>
          </a:xfrm>
          <a:prstGeom prst="rect">
            <a:avLst/>
          </a:prstGeom>
          <a:solidFill>
            <a:srgbClr val="0D6EEC"/>
          </a:solidFill>
          <a:ln/>
        </p:spPr>
      </p:sp>
      <p:sp>
        <p:nvSpPr>
          <p:cNvPr id="46" name="Shape 44"/>
          <p:cNvSpPr/>
          <p:nvPr/>
        </p:nvSpPr>
        <p:spPr>
          <a:xfrm>
            <a:off x="7658100" y="475488"/>
            <a:ext cx="352044" cy="22860"/>
          </a:xfrm>
          <a:prstGeom prst="rect">
            <a:avLst/>
          </a:prstGeom>
          <a:solidFill>
            <a:srgbClr val="0D69EB"/>
          </a:solidFill>
          <a:ln/>
        </p:spPr>
      </p:sp>
      <p:sp>
        <p:nvSpPr>
          <p:cNvPr id="47" name="Shape 45"/>
          <p:cNvSpPr/>
          <p:nvPr/>
        </p:nvSpPr>
        <p:spPr>
          <a:xfrm>
            <a:off x="8001000" y="475488"/>
            <a:ext cx="352044" cy="22860"/>
          </a:xfrm>
          <a:prstGeom prst="rect">
            <a:avLst/>
          </a:prstGeom>
          <a:solidFill>
            <a:srgbClr val="0E64EA"/>
          </a:solidFill>
          <a:ln/>
        </p:spPr>
      </p:sp>
      <p:sp>
        <p:nvSpPr>
          <p:cNvPr id="48" name="Shape 46"/>
          <p:cNvSpPr/>
          <p:nvPr/>
        </p:nvSpPr>
        <p:spPr>
          <a:xfrm>
            <a:off x="8343900" y="475488"/>
            <a:ext cx="352044" cy="22860"/>
          </a:xfrm>
          <a:prstGeom prst="rect">
            <a:avLst/>
          </a:prstGeom>
          <a:solidFill>
            <a:srgbClr val="0E5FE9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6692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5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Shipped in Wave 1</a:t>
            </a:r>
            <a:endParaRPr lang="en-US" sz="2800" dirty="0"/>
          </a:p>
        </p:txBody>
      </p:sp>
      <p:sp>
        <p:nvSpPr>
          <p:cNvPr id="50" name="Shape 48"/>
          <p:cNvSpPr/>
          <p:nvPr/>
        </p:nvSpPr>
        <p:spPr>
          <a:xfrm>
            <a:off x="274320" y="1554480"/>
            <a:ext cx="4160520" cy="713232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1554480"/>
            <a:ext cx="36576" cy="7132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02336" y="1627632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4944" y="1627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CreditFi.sol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4944" y="18653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Solidity contract — register, deposit, borrow, repay, liquidate, oracle. Full event emission.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17720" y="1554480"/>
            <a:ext cx="4160520" cy="713232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17720" y="1554480"/>
            <a:ext cx="36576" cy="713232"/>
          </a:xfrm>
          <a:prstGeom prst="rect">
            <a:avLst/>
          </a:prstGeom>
          <a:solidFill>
            <a:srgbClr val="00EF9F"/>
          </a:solidFill>
          <a:ln/>
        </p:spPr>
      </p:sp>
      <p:sp>
        <p:nvSpPr>
          <p:cNvPr id="57" name="Text 55"/>
          <p:cNvSpPr/>
          <p:nvPr/>
        </p:nvSpPr>
        <p:spPr>
          <a:xfrm>
            <a:off x="4745736" y="1627632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038344" y="1627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credit_scorer.py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38344" y="18653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GBM AI scoring model — 5 features, 300–850 output, designed for 0G Compute deployment.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4320" y="2359152"/>
            <a:ext cx="4160520" cy="713232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2359152"/>
            <a:ext cx="36576" cy="71323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2" name="Text 60"/>
          <p:cNvSpPr/>
          <p:nvPr/>
        </p:nvSpPr>
        <p:spPr>
          <a:xfrm>
            <a:off x="402336" y="2432304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⬡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94944" y="243230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frontend/index.html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4944" y="26700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dApp — 7 tabs, live interest ticker, AI scorer with Claude API, analytics charts, X post generator.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17720" y="2359152"/>
            <a:ext cx="4160520" cy="713232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17720" y="2359152"/>
            <a:ext cx="36576" cy="713232"/>
          </a:xfrm>
          <a:prstGeom prst="rect">
            <a:avLst/>
          </a:prstGeom>
          <a:solidFill>
            <a:srgbClr val="8B2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745736" y="2432304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2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038344" y="243230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deploy.js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038344" y="26700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One-command Hardhat deploy script targeting 0G testnet and mainnet with pool seeding.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" y="3163824"/>
            <a:ext cx="4160520" cy="713232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" y="3163824"/>
            <a:ext cx="36576" cy="7132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72" name="Text 70"/>
          <p:cNvSpPr/>
          <p:nvPr/>
        </p:nvSpPr>
        <p:spPr>
          <a:xfrm>
            <a:off x="402336" y="3236976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94944" y="32369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CreditFi.test.js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94944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comprehensive tests — registration, deposit, borrow, repay, oracle, liquidation, view functions.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617720" y="3163824"/>
            <a:ext cx="4160520" cy="713232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617720" y="3163824"/>
            <a:ext cx="36576" cy="713232"/>
          </a:xfrm>
          <a:prstGeom prst="rect">
            <a:avLst/>
          </a:prstGeom>
          <a:solidFill>
            <a:srgbClr val="00EF9F"/>
          </a:solidFill>
          <a:ln/>
        </p:spPr>
      </p:sp>
      <p:sp>
        <p:nvSpPr>
          <p:cNvPr id="77" name="Text 75"/>
          <p:cNvSpPr/>
          <p:nvPr/>
        </p:nvSpPr>
        <p:spPr>
          <a:xfrm>
            <a:off x="4745736" y="3236976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5038344" y="32369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hardhat.config.js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038344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Pre-configured for 0G Galileo testnet (16601) and 0G Mainnet (16600) with explorer integration.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74320" y="3968496"/>
            <a:ext cx="4160520" cy="713232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" y="3968496"/>
            <a:ext cx="36576" cy="71323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2" name="Text 80"/>
          <p:cNvSpPr/>
          <p:nvPr/>
        </p:nvSpPr>
        <p:spPr>
          <a:xfrm>
            <a:off x="402336" y="4041648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⬡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94944" y="40416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architecture.mermaid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94944" y="4279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diagram — all 0G components, data flows, oracle architecture, lending pool connections.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617720" y="3968496"/>
            <a:ext cx="4160520" cy="713232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617720" y="3968496"/>
            <a:ext cx="36576" cy="713232"/>
          </a:xfrm>
          <a:prstGeom prst="rect">
            <a:avLst/>
          </a:prstGeom>
          <a:solidFill>
            <a:srgbClr val="8B2FFF"/>
          </a:solidFill>
          <a:ln/>
        </p:spPr>
      </p:sp>
      <p:sp>
        <p:nvSpPr>
          <p:cNvPr id="87" name="Text 85"/>
          <p:cNvSpPr/>
          <p:nvPr/>
        </p:nvSpPr>
        <p:spPr>
          <a:xfrm>
            <a:off x="4745736" y="4041648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2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5038344" y="40416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+ SUBMISSION.md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5038344" y="4279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setup guide, Wave 1 checklist, X post, architecture overview, local deployment steps.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7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103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66344" cy="274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466344" cy="27432"/>
          </a:xfrm>
          <a:prstGeom prst="rect">
            <a:avLst/>
          </a:prstGeom>
          <a:solidFill>
            <a:srgbClr val="01C9F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0"/>
            <a:ext cx="466344" cy="27432"/>
          </a:xfrm>
          <a:prstGeom prst="rect">
            <a:avLst/>
          </a:prstGeom>
          <a:solidFill>
            <a:srgbClr val="02C3FD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0"/>
            <a:ext cx="466344" cy="27432"/>
          </a:xfrm>
          <a:prstGeom prst="rect">
            <a:avLst/>
          </a:prstGeom>
          <a:solidFill>
            <a:srgbClr val="02BDFC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0"/>
            <a:ext cx="466344" cy="27432"/>
          </a:xfrm>
          <a:prstGeom prst="rect">
            <a:avLst/>
          </a:prstGeom>
          <a:solidFill>
            <a:srgbClr val="03B8F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0"/>
            <a:ext cx="466344" cy="27432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466344" cy="27432"/>
          </a:xfrm>
          <a:prstGeom prst="rect">
            <a:avLst/>
          </a:prstGeom>
          <a:solidFill>
            <a:srgbClr val="05A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0"/>
            <a:ext cx="466344" cy="27432"/>
          </a:xfrm>
          <a:prstGeom prst="rect">
            <a:avLst/>
          </a:prstGeom>
          <a:solidFill>
            <a:srgbClr val="05A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0"/>
            <a:ext cx="466344" cy="27432"/>
          </a:xfrm>
          <a:prstGeom prst="rect">
            <a:avLst/>
          </a:prstGeom>
          <a:solidFill>
            <a:srgbClr val="06A0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0"/>
            <a:ext cx="466344" cy="27432"/>
          </a:xfrm>
          <a:prstGeom prst="rect">
            <a:avLst/>
          </a:prstGeom>
          <a:solidFill>
            <a:srgbClr val="079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0"/>
            <a:ext cx="466344" cy="27432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0"/>
            <a:ext cx="466344" cy="27432"/>
          </a:xfrm>
          <a:prstGeom prst="rect">
            <a:avLst/>
          </a:prstGeom>
          <a:solidFill>
            <a:srgbClr val="088F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0"/>
            <a:ext cx="466344" cy="27432"/>
          </a:xfrm>
          <a:prstGeom prst="rect">
            <a:avLst/>
          </a:prstGeom>
          <a:solidFill>
            <a:srgbClr val="0989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0"/>
            <a:ext cx="466344" cy="27432"/>
          </a:xfrm>
          <a:prstGeom prst="rect">
            <a:avLst/>
          </a:prstGeom>
          <a:solidFill>
            <a:srgbClr val="0A8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0"/>
            <a:ext cx="466344" cy="27432"/>
          </a:xfrm>
          <a:prstGeom prst="rect">
            <a:avLst/>
          </a:prstGeom>
          <a:solidFill>
            <a:srgbClr val="0B7D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0"/>
            <a:ext cx="466344" cy="27432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0"/>
            <a:ext cx="466344" cy="27432"/>
          </a:xfrm>
          <a:prstGeom prst="rect">
            <a:avLst/>
          </a:prstGeom>
          <a:solidFill>
            <a:srgbClr val="0C71E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0"/>
            <a:ext cx="466344" cy="27432"/>
          </a:xfrm>
          <a:prstGeom prst="rect">
            <a:avLst/>
          </a:prstGeom>
          <a:solidFill>
            <a:srgbClr val="0D6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0"/>
            <a:ext cx="466344" cy="27432"/>
          </a:xfrm>
          <a:prstGeom prst="rect">
            <a:avLst/>
          </a:prstGeom>
          <a:solidFill>
            <a:srgbClr val="0E6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0"/>
            <a:ext cx="466344" cy="27432"/>
          </a:xfrm>
          <a:prstGeom prst="rect">
            <a:avLst/>
          </a:prstGeom>
          <a:solidFill>
            <a:srgbClr val="0E60E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64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10-WEEK ROADMAP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"/>
            <a:ext cx="352044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" y="475488"/>
            <a:ext cx="352044" cy="22860"/>
          </a:xfrm>
          <a:prstGeom prst="rect">
            <a:avLst/>
          </a:prstGeom>
          <a:solidFill>
            <a:srgbClr val="01C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75488"/>
            <a:ext cx="352044" cy="22860"/>
          </a:xfrm>
          <a:prstGeom prst="rect">
            <a:avLst/>
          </a:prstGeom>
          <a:solidFill>
            <a:srgbClr val="01C5FD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5900" y="475488"/>
            <a:ext cx="352044" cy="22860"/>
          </a:xfrm>
          <a:prstGeom prst="rect">
            <a:avLst/>
          </a:prstGeom>
          <a:solidFill>
            <a:srgbClr val="02C0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0" y="475488"/>
            <a:ext cx="352044" cy="22860"/>
          </a:xfrm>
          <a:prstGeom prst="rect">
            <a:avLst/>
          </a:prstGeom>
          <a:solidFill>
            <a:srgbClr val="03BCFB"/>
          </a:solidFill>
          <a:ln/>
        </p:spPr>
      </p:sp>
      <p:sp>
        <p:nvSpPr>
          <p:cNvPr id="30" name="Shape 28"/>
          <p:cNvSpPr/>
          <p:nvPr/>
        </p:nvSpPr>
        <p:spPr>
          <a:xfrm>
            <a:off x="2171700" y="475488"/>
            <a:ext cx="352044" cy="22860"/>
          </a:xfrm>
          <a:prstGeom prst="rect">
            <a:avLst/>
          </a:prstGeom>
          <a:solidFill>
            <a:srgbClr val="03B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475488"/>
            <a:ext cx="352044" cy="22860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857500" y="475488"/>
            <a:ext cx="352044" cy="22860"/>
          </a:xfrm>
          <a:prstGeom prst="rect">
            <a:avLst/>
          </a:prstGeom>
          <a:solidFill>
            <a:srgbClr val="04A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475488"/>
            <a:ext cx="352044" cy="22860"/>
          </a:xfrm>
          <a:prstGeom prst="rect">
            <a:avLst/>
          </a:prstGeom>
          <a:solidFill>
            <a:srgbClr val="05A8F7"/>
          </a:solidFill>
          <a:ln/>
        </p:spPr>
      </p:sp>
      <p:sp>
        <p:nvSpPr>
          <p:cNvPr id="34" name="Shape 32"/>
          <p:cNvSpPr/>
          <p:nvPr/>
        </p:nvSpPr>
        <p:spPr>
          <a:xfrm>
            <a:off x="3543300" y="475488"/>
            <a:ext cx="352044" cy="22860"/>
          </a:xfrm>
          <a:prstGeom prst="rect">
            <a:avLst/>
          </a:prstGeom>
          <a:solidFill>
            <a:srgbClr val="06A3F6"/>
          </a:solidFill>
          <a:ln/>
        </p:spPr>
      </p:sp>
      <p:sp>
        <p:nvSpPr>
          <p:cNvPr id="35" name="Shape 33"/>
          <p:cNvSpPr/>
          <p:nvPr/>
        </p:nvSpPr>
        <p:spPr>
          <a:xfrm>
            <a:off x="3886200" y="475488"/>
            <a:ext cx="352044" cy="22860"/>
          </a:xfrm>
          <a:prstGeom prst="rect">
            <a:avLst/>
          </a:prstGeom>
          <a:solidFill>
            <a:srgbClr val="069EF5"/>
          </a:solidFill>
          <a:ln/>
        </p:spPr>
      </p:sp>
      <p:sp>
        <p:nvSpPr>
          <p:cNvPr id="36" name="Shape 34"/>
          <p:cNvSpPr/>
          <p:nvPr/>
        </p:nvSpPr>
        <p:spPr>
          <a:xfrm>
            <a:off x="4229100" y="475488"/>
            <a:ext cx="352044" cy="22860"/>
          </a:xfrm>
          <a:prstGeom prst="rect">
            <a:avLst/>
          </a:prstGeom>
          <a:solidFill>
            <a:srgbClr val="0799F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475488"/>
            <a:ext cx="352044" cy="22860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4900" y="475488"/>
            <a:ext cx="352044" cy="22860"/>
          </a:xfrm>
          <a:prstGeom prst="rect">
            <a:avLst/>
          </a:prstGeom>
          <a:solidFill>
            <a:srgbClr val="0890F3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475488"/>
            <a:ext cx="352044" cy="22860"/>
          </a:xfrm>
          <a:prstGeom prst="rect">
            <a:avLst/>
          </a:prstGeom>
          <a:solidFill>
            <a:srgbClr val="098BF2"/>
          </a:solidFill>
          <a:ln/>
        </p:spPr>
      </p:sp>
      <p:sp>
        <p:nvSpPr>
          <p:cNvPr id="40" name="Shape 38"/>
          <p:cNvSpPr/>
          <p:nvPr/>
        </p:nvSpPr>
        <p:spPr>
          <a:xfrm>
            <a:off x="5600700" y="475488"/>
            <a:ext cx="352044" cy="22860"/>
          </a:xfrm>
          <a:prstGeom prst="rect">
            <a:avLst/>
          </a:prstGeom>
          <a:solidFill>
            <a:srgbClr val="0986F1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475488"/>
            <a:ext cx="352044" cy="22860"/>
          </a:xfrm>
          <a:prstGeom prst="rect">
            <a:avLst/>
          </a:prstGeom>
          <a:solidFill>
            <a:srgbClr val="0A81F0"/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475488"/>
            <a:ext cx="352044" cy="22860"/>
          </a:xfrm>
          <a:prstGeom prst="rect">
            <a:avLst/>
          </a:prstGeom>
          <a:solidFill>
            <a:srgbClr val="0B7CE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9400" y="475488"/>
            <a:ext cx="352044" cy="22860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44" name="Shape 42"/>
          <p:cNvSpPr/>
          <p:nvPr/>
        </p:nvSpPr>
        <p:spPr>
          <a:xfrm>
            <a:off x="6972300" y="475488"/>
            <a:ext cx="352044" cy="22860"/>
          </a:xfrm>
          <a:prstGeom prst="rect">
            <a:avLst/>
          </a:prstGeom>
          <a:solidFill>
            <a:srgbClr val="0C72ED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0" y="475488"/>
            <a:ext cx="352044" cy="22860"/>
          </a:xfrm>
          <a:prstGeom prst="rect">
            <a:avLst/>
          </a:prstGeom>
          <a:solidFill>
            <a:srgbClr val="0D6EEC"/>
          </a:solidFill>
          <a:ln/>
        </p:spPr>
      </p:sp>
      <p:sp>
        <p:nvSpPr>
          <p:cNvPr id="46" name="Shape 44"/>
          <p:cNvSpPr/>
          <p:nvPr/>
        </p:nvSpPr>
        <p:spPr>
          <a:xfrm>
            <a:off x="7658100" y="475488"/>
            <a:ext cx="352044" cy="22860"/>
          </a:xfrm>
          <a:prstGeom prst="rect">
            <a:avLst/>
          </a:prstGeom>
          <a:solidFill>
            <a:srgbClr val="0D69EB"/>
          </a:solidFill>
          <a:ln/>
        </p:spPr>
      </p:sp>
      <p:sp>
        <p:nvSpPr>
          <p:cNvPr id="47" name="Shape 45"/>
          <p:cNvSpPr/>
          <p:nvPr/>
        </p:nvSpPr>
        <p:spPr>
          <a:xfrm>
            <a:off x="8001000" y="475488"/>
            <a:ext cx="352044" cy="22860"/>
          </a:xfrm>
          <a:prstGeom prst="rect">
            <a:avLst/>
          </a:prstGeom>
          <a:solidFill>
            <a:srgbClr val="0E64EA"/>
          </a:solidFill>
          <a:ln/>
        </p:spPr>
      </p:sp>
      <p:sp>
        <p:nvSpPr>
          <p:cNvPr id="48" name="Shape 46"/>
          <p:cNvSpPr/>
          <p:nvPr/>
        </p:nvSpPr>
        <p:spPr>
          <a:xfrm>
            <a:off x="8343900" y="475488"/>
            <a:ext cx="352044" cy="22860"/>
          </a:xfrm>
          <a:prstGeom prst="rect">
            <a:avLst/>
          </a:prstGeom>
          <a:solidFill>
            <a:srgbClr val="0E5FE9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6692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5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Waves · $50,000 in 0G Credits</a:t>
            </a:r>
            <a:endParaRPr lang="en-US" sz="2800" dirty="0"/>
          </a:p>
        </p:txBody>
      </p:sp>
      <p:sp>
        <p:nvSpPr>
          <p:cNvPr id="50" name="Shape 48"/>
          <p:cNvSpPr/>
          <p:nvPr/>
        </p:nvSpPr>
        <p:spPr>
          <a:xfrm>
            <a:off x="228600" y="1554480"/>
            <a:ext cx="1627632" cy="3246120"/>
          </a:xfrm>
          <a:prstGeom prst="rect">
            <a:avLst/>
          </a:prstGeom>
          <a:solidFill>
            <a:srgbClr val="0A1828"/>
          </a:solidFill>
          <a:ln w="7620">
            <a:solidFill>
              <a:srgbClr val="00C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8600" y="1554480"/>
            <a:ext cx="1627632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38328" y="164592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31520" y="1664208"/>
            <a:ext cx="457200" cy="164592"/>
          </a:xfrm>
          <a:prstGeom prst="rect">
            <a:avLst/>
          </a:prstGeom>
          <a:solidFill>
            <a:srgbClr val="00CFFF">
              <a:alpha val="2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1664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338328" y="192024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Architecture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38328" y="24688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 13–26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38328" y="268833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Grant: </a:t>
            </a:r>
            <a:pPr indent="0" marL="0">
              <a:buNone/>
            </a:pPr>
            <a:r>
              <a:rPr lang="en-US" sz="900" b="1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$5,000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38328" y="29626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00E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CreditFi.sol contract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338328" y="3364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00E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scoring model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338328" y="37673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00E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dApp frontend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338328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00E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17 tests passing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1965960" y="1554480"/>
            <a:ext cx="1627632" cy="3246120"/>
          </a:xfrm>
          <a:prstGeom prst="rect">
            <a:avLst/>
          </a:prstGeom>
          <a:solidFill>
            <a:srgbClr val="0C1420"/>
          </a:solidFill>
          <a:ln w="7620">
            <a:solidFill>
              <a:srgbClr val="21365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65960" y="1554480"/>
            <a:ext cx="1627632" cy="22860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64" name="Text 62"/>
          <p:cNvSpPr/>
          <p:nvPr/>
        </p:nvSpPr>
        <p:spPr>
          <a:xfrm>
            <a:off x="2075688" y="164592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2136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468880" y="1664208"/>
            <a:ext cx="365760" cy="164592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66" name="Text 64"/>
          <p:cNvSpPr/>
          <p:nvPr/>
        </p:nvSpPr>
        <p:spPr>
          <a:xfrm>
            <a:off x="2468880" y="1664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SOON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2075688" y="192024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Integration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075688" y="24688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 27–Jul 10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075688" y="268833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Grant: </a:t>
            </a:r>
            <a:pPr indent="0" marL="0">
              <a:buNone/>
            </a:pPr>
            <a:r>
              <a:rPr lang="en-US" sz="900" b="1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$7,500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075688" y="29626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Deploy to 0G Galileo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2075688" y="3364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Live 0G Compute scoring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2075688" y="37673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Demo video 3 min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2075688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Score oracle live</a:t>
            </a:r>
            <a:endParaRPr lang="en-US" sz="820" dirty="0"/>
          </a:p>
        </p:txBody>
      </p:sp>
      <p:sp>
        <p:nvSpPr>
          <p:cNvPr id="74" name="Shape 72"/>
          <p:cNvSpPr/>
          <p:nvPr/>
        </p:nvSpPr>
        <p:spPr>
          <a:xfrm>
            <a:off x="3703320" y="1554480"/>
            <a:ext cx="1627632" cy="3246120"/>
          </a:xfrm>
          <a:prstGeom prst="rect">
            <a:avLst/>
          </a:prstGeom>
          <a:solidFill>
            <a:srgbClr val="0C1420"/>
          </a:solidFill>
          <a:ln w="7620">
            <a:solidFill>
              <a:srgbClr val="21365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03320" y="1554480"/>
            <a:ext cx="1627632" cy="22860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76" name="Text 74"/>
          <p:cNvSpPr/>
          <p:nvPr/>
        </p:nvSpPr>
        <p:spPr>
          <a:xfrm>
            <a:off x="3813048" y="164592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2136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206240" y="1664208"/>
            <a:ext cx="365760" cy="164592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78" name="Text 76"/>
          <p:cNvSpPr/>
          <p:nvPr/>
        </p:nvSpPr>
        <p:spPr>
          <a:xfrm>
            <a:off x="4206240" y="1664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SOON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3813048" y="192024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Deployment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3813048" y="24688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11–24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3813048" y="268833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Grant: </a:t>
            </a:r>
            <a:pPr indent="0" marL="0">
              <a:buNone/>
            </a:pPr>
            <a:r>
              <a:rPr lang="en-US" sz="900" b="1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$15,000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813048" y="29626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0G Mainnet contract</a:t>
            </a:r>
            <a:endParaRPr lang="en-US" sz="820" dirty="0"/>
          </a:p>
        </p:txBody>
      </p:sp>
      <p:sp>
        <p:nvSpPr>
          <p:cNvPr id="83" name="Text 81"/>
          <p:cNvSpPr/>
          <p:nvPr/>
        </p:nvSpPr>
        <p:spPr>
          <a:xfrm>
            <a:off x="3813048" y="3364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0G Explorer verified</a:t>
            </a:r>
            <a:endParaRPr lang="en-US" sz="820" dirty="0"/>
          </a:p>
        </p:txBody>
      </p:sp>
      <p:sp>
        <p:nvSpPr>
          <p:cNvPr id="84" name="Text 82"/>
          <p:cNvSpPr/>
          <p:nvPr/>
        </p:nvSpPr>
        <p:spPr>
          <a:xfrm>
            <a:off x="3813048" y="37673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Storage + Pay live</a:t>
            </a:r>
            <a:endParaRPr lang="en-US" sz="820" dirty="0"/>
          </a:p>
        </p:txBody>
      </p:sp>
      <p:sp>
        <p:nvSpPr>
          <p:cNvPr id="85" name="Text 83"/>
          <p:cNvSpPr/>
          <p:nvPr/>
        </p:nvSpPr>
        <p:spPr>
          <a:xfrm>
            <a:off x="3813048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Security review</a:t>
            </a:r>
            <a:endParaRPr lang="en-US" sz="820" dirty="0"/>
          </a:p>
        </p:txBody>
      </p:sp>
      <p:sp>
        <p:nvSpPr>
          <p:cNvPr id="86" name="Shape 84"/>
          <p:cNvSpPr/>
          <p:nvPr/>
        </p:nvSpPr>
        <p:spPr>
          <a:xfrm>
            <a:off x="5440680" y="1554480"/>
            <a:ext cx="1627632" cy="3246120"/>
          </a:xfrm>
          <a:prstGeom prst="rect">
            <a:avLst/>
          </a:prstGeom>
          <a:solidFill>
            <a:srgbClr val="0C1420"/>
          </a:solidFill>
          <a:ln w="7620">
            <a:solidFill>
              <a:srgbClr val="21365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40680" y="1554480"/>
            <a:ext cx="1627632" cy="22860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88" name="Text 86"/>
          <p:cNvSpPr/>
          <p:nvPr/>
        </p:nvSpPr>
        <p:spPr>
          <a:xfrm>
            <a:off x="5550408" y="164592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2136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943600" y="1664208"/>
            <a:ext cx="365760" cy="164592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90" name="Text 88"/>
          <p:cNvSpPr/>
          <p:nvPr/>
        </p:nvSpPr>
        <p:spPr>
          <a:xfrm>
            <a:off x="5943600" y="1664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SOON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5550408" y="192024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Acquisition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5550408" y="24688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25–Aug 7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5550408" y="268833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Grant: </a:t>
            </a:r>
            <a:pPr indent="0" marL="0">
              <a:buNone/>
            </a:pPr>
            <a:r>
              <a:rPr lang="en-US" sz="900" b="1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$10,000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550408" y="29626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20+ real agents</a:t>
            </a:r>
            <a:endParaRPr lang="en-US" sz="820" dirty="0"/>
          </a:p>
        </p:txBody>
      </p:sp>
      <p:sp>
        <p:nvSpPr>
          <p:cNvPr id="95" name="Text 93"/>
          <p:cNvSpPr/>
          <p:nvPr/>
        </p:nvSpPr>
        <p:spPr>
          <a:xfrm>
            <a:off x="5550408" y="3364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On-chain traction proof</a:t>
            </a:r>
            <a:endParaRPr lang="en-US" sz="820" dirty="0"/>
          </a:p>
        </p:txBody>
      </p:sp>
      <p:sp>
        <p:nvSpPr>
          <p:cNvPr id="96" name="Text 94"/>
          <p:cNvSpPr/>
          <p:nvPr/>
        </p:nvSpPr>
        <p:spPr>
          <a:xfrm>
            <a:off x="5550408" y="37673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X marketing push</a:t>
            </a:r>
            <a:endParaRPr lang="en-US" sz="820" dirty="0"/>
          </a:p>
        </p:txBody>
      </p:sp>
      <p:sp>
        <p:nvSpPr>
          <p:cNvPr id="97" name="Text 95"/>
          <p:cNvSpPr/>
          <p:nvPr/>
        </p:nvSpPr>
        <p:spPr>
          <a:xfrm>
            <a:off x="5550408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Analytics dashboard</a:t>
            </a:r>
            <a:endParaRPr lang="en-US" sz="820" dirty="0"/>
          </a:p>
        </p:txBody>
      </p:sp>
      <p:sp>
        <p:nvSpPr>
          <p:cNvPr id="98" name="Shape 96"/>
          <p:cNvSpPr/>
          <p:nvPr/>
        </p:nvSpPr>
        <p:spPr>
          <a:xfrm>
            <a:off x="7178040" y="1554480"/>
            <a:ext cx="1627632" cy="3246120"/>
          </a:xfrm>
          <a:prstGeom prst="rect">
            <a:avLst/>
          </a:prstGeom>
          <a:solidFill>
            <a:srgbClr val="0C1420"/>
          </a:solidFill>
          <a:ln w="7620">
            <a:solidFill>
              <a:srgbClr val="21365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178040" y="1554480"/>
            <a:ext cx="1627632" cy="22860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100" name="Text 98"/>
          <p:cNvSpPr/>
          <p:nvPr/>
        </p:nvSpPr>
        <p:spPr>
          <a:xfrm>
            <a:off x="7287768" y="164592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2136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7680960" y="1664208"/>
            <a:ext cx="365760" cy="164592"/>
          </a:xfrm>
          <a:prstGeom prst="rect">
            <a:avLst/>
          </a:prstGeom>
          <a:solidFill>
            <a:srgbClr val="213652"/>
          </a:solidFill>
          <a:ln/>
        </p:spPr>
      </p:sp>
      <p:sp>
        <p:nvSpPr>
          <p:cNvPr id="102" name="Text 100"/>
          <p:cNvSpPr/>
          <p:nvPr/>
        </p:nvSpPr>
        <p:spPr>
          <a:xfrm>
            <a:off x="7680960" y="1664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SOON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7287768" y="192024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Day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7287768" y="24688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 8–21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7287768" y="268833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Grant: </a:t>
            </a:r>
            <a:pPr indent="0" marL="0">
              <a:buNone/>
            </a:pPr>
            <a:r>
              <a:rPr lang="en-US" sz="900" b="1" dirty="0">
                <a:solidFill>
                  <a:srgbClr val="00E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$12,500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287768" y="296265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Token2049 Singapore</a:t>
            </a:r>
            <a:endParaRPr lang="en-US" sz="820" dirty="0"/>
          </a:p>
        </p:txBody>
      </p:sp>
      <p:sp>
        <p:nvSpPr>
          <p:cNvPr id="107" name="Text 105"/>
          <p:cNvSpPr/>
          <p:nvPr/>
        </p:nvSpPr>
        <p:spPr>
          <a:xfrm>
            <a:off x="7287768" y="3364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Investor pitch deck</a:t>
            </a:r>
            <a:endParaRPr lang="en-US" sz="820" dirty="0"/>
          </a:p>
        </p:txBody>
      </p:sp>
      <p:sp>
        <p:nvSpPr>
          <p:cNvPr id="108" name="Text 106"/>
          <p:cNvSpPr/>
          <p:nvPr/>
        </p:nvSpPr>
        <p:spPr>
          <a:xfrm>
            <a:off x="7287768" y="37673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Growth roadmap v2</a:t>
            </a:r>
            <a:endParaRPr lang="en-US" sz="820" dirty="0"/>
          </a:p>
        </p:txBody>
      </p:sp>
      <p:sp>
        <p:nvSpPr>
          <p:cNvPr id="109" name="Text 107"/>
          <p:cNvSpPr/>
          <p:nvPr/>
        </p:nvSpPr>
        <p:spPr>
          <a:xfrm>
            <a:off x="7287768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Demo Day finalist</a:t>
            </a:r>
            <a:endParaRPr lang="en-US" sz="820" dirty="0"/>
          </a:p>
        </p:txBody>
      </p:sp>
      <p:sp>
        <p:nvSpPr>
          <p:cNvPr id="110" name="Shape 108"/>
          <p:cNvSpPr/>
          <p:nvPr/>
        </p:nvSpPr>
        <p:spPr>
          <a:xfrm>
            <a:off x="228600" y="4663440"/>
            <a:ext cx="8686800" cy="301752"/>
          </a:xfrm>
          <a:prstGeom prst="rect">
            <a:avLst/>
          </a:prstGeom>
          <a:solidFill>
            <a:srgbClr val="101C2C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20040" y="4700016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$50,000 in 0G Credits  ·  Demo Day: Token2049 Singapore, October 7–8, 2026  ·  Investment Committee access for top performers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7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103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66344" cy="274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466344" cy="27432"/>
          </a:xfrm>
          <a:prstGeom prst="rect">
            <a:avLst/>
          </a:prstGeom>
          <a:solidFill>
            <a:srgbClr val="01C9F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0"/>
            <a:ext cx="466344" cy="27432"/>
          </a:xfrm>
          <a:prstGeom prst="rect">
            <a:avLst/>
          </a:prstGeom>
          <a:solidFill>
            <a:srgbClr val="02C3FD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0"/>
            <a:ext cx="466344" cy="27432"/>
          </a:xfrm>
          <a:prstGeom prst="rect">
            <a:avLst/>
          </a:prstGeom>
          <a:solidFill>
            <a:srgbClr val="02BDFC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0"/>
            <a:ext cx="466344" cy="27432"/>
          </a:xfrm>
          <a:prstGeom prst="rect">
            <a:avLst/>
          </a:prstGeom>
          <a:solidFill>
            <a:srgbClr val="03B8F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0"/>
            <a:ext cx="466344" cy="27432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466344" cy="27432"/>
          </a:xfrm>
          <a:prstGeom prst="rect">
            <a:avLst/>
          </a:prstGeom>
          <a:solidFill>
            <a:srgbClr val="05A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0"/>
            <a:ext cx="466344" cy="27432"/>
          </a:xfrm>
          <a:prstGeom prst="rect">
            <a:avLst/>
          </a:prstGeom>
          <a:solidFill>
            <a:srgbClr val="05A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0"/>
            <a:ext cx="466344" cy="27432"/>
          </a:xfrm>
          <a:prstGeom prst="rect">
            <a:avLst/>
          </a:prstGeom>
          <a:solidFill>
            <a:srgbClr val="06A0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0"/>
            <a:ext cx="466344" cy="27432"/>
          </a:xfrm>
          <a:prstGeom prst="rect">
            <a:avLst/>
          </a:prstGeom>
          <a:solidFill>
            <a:srgbClr val="079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0"/>
            <a:ext cx="466344" cy="27432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0"/>
            <a:ext cx="466344" cy="27432"/>
          </a:xfrm>
          <a:prstGeom prst="rect">
            <a:avLst/>
          </a:prstGeom>
          <a:solidFill>
            <a:srgbClr val="088F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0"/>
            <a:ext cx="466344" cy="27432"/>
          </a:xfrm>
          <a:prstGeom prst="rect">
            <a:avLst/>
          </a:prstGeom>
          <a:solidFill>
            <a:srgbClr val="0989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0"/>
            <a:ext cx="466344" cy="27432"/>
          </a:xfrm>
          <a:prstGeom prst="rect">
            <a:avLst/>
          </a:prstGeom>
          <a:solidFill>
            <a:srgbClr val="0A8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0"/>
            <a:ext cx="466344" cy="27432"/>
          </a:xfrm>
          <a:prstGeom prst="rect">
            <a:avLst/>
          </a:prstGeom>
          <a:solidFill>
            <a:srgbClr val="0B7D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0"/>
            <a:ext cx="466344" cy="27432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0"/>
            <a:ext cx="466344" cy="27432"/>
          </a:xfrm>
          <a:prstGeom prst="rect">
            <a:avLst/>
          </a:prstGeom>
          <a:solidFill>
            <a:srgbClr val="0C71E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0"/>
            <a:ext cx="466344" cy="27432"/>
          </a:xfrm>
          <a:prstGeom prst="rect">
            <a:avLst/>
          </a:prstGeom>
          <a:solidFill>
            <a:srgbClr val="0D6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0"/>
            <a:ext cx="466344" cy="27432"/>
          </a:xfrm>
          <a:prstGeom prst="rect">
            <a:avLst/>
          </a:prstGeom>
          <a:solidFill>
            <a:srgbClr val="0E6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0"/>
            <a:ext cx="466344" cy="27432"/>
          </a:xfrm>
          <a:prstGeom prst="rect">
            <a:avLst/>
          </a:prstGeom>
          <a:solidFill>
            <a:srgbClr val="0E60E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64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MARKET OPPORTUNITY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"/>
            <a:ext cx="352044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" y="475488"/>
            <a:ext cx="352044" cy="22860"/>
          </a:xfrm>
          <a:prstGeom prst="rect">
            <a:avLst/>
          </a:prstGeom>
          <a:solidFill>
            <a:srgbClr val="01C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75488"/>
            <a:ext cx="352044" cy="22860"/>
          </a:xfrm>
          <a:prstGeom prst="rect">
            <a:avLst/>
          </a:prstGeom>
          <a:solidFill>
            <a:srgbClr val="01C5FD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5900" y="475488"/>
            <a:ext cx="352044" cy="22860"/>
          </a:xfrm>
          <a:prstGeom prst="rect">
            <a:avLst/>
          </a:prstGeom>
          <a:solidFill>
            <a:srgbClr val="02C0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0" y="475488"/>
            <a:ext cx="352044" cy="22860"/>
          </a:xfrm>
          <a:prstGeom prst="rect">
            <a:avLst/>
          </a:prstGeom>
          <a:solidFill>
            <a:srgbClr val="03BCFB"/>
          </a:solidFill>
          <a:ln/>
        </p:spPr>
      </p:sp>
      <p:sp>
        <p:nvSpPr>
          <p:cNvPr id="30" name="Shape 28"/>
          <p:cNvSpPr/>
          <p:nvPr/>
        </p:nvSpPr>
        <p:spPr>
          <a:xfrm>
            <a:off x="2171700" y="475488"/>
            <a:ext cx="352044" cy="22860"/>
          </a:xfrm>
          <a:prstGeom prst="rect">
            <a:avLst/>
          </a:prstGeom>
          <a:solidFill>
            <a:srgbClr val="03B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475488"/>
            <a:ext cx="352044" cy="22860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857500" y="475488"/>
            <a:ext cx="352044" cy="22860"/>
          </a:xfrm>
          <a:prstGeom prst="rect">
            <a:avLst/>
          </a:prstGeom>
          <a:solidFill>
            <a:srgbClr val="04A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475488"/>
            <a:ext cx="352044" cy="22860"/>
          </a:xfrm>
          <a:prstGeom prst="rect">
            <a:avLst/>
          </a:prstGeom>
          <a:solidFill>
            <a:srgbClr val="05A8F7"/>
          </a:solidFill>
          <a:ln/>
        </p:spPr>
      </p:sp>
      <p:sp>
        <p:nvSpPr>
          <p:cNvPr id="34" name="Shape 32"/>
          <p:cNvSpPr/>
          <p:nvPr/>
        </p:nvSpPr>
        <p:spPr>
          <a:xfrm>
            <a:off x="3543300" y="475488"/>
            <a:ext cx="352044" cy="22860"/>
          </a:xfrm>
          <a:prstGeom prst="rect">
            <a:avLst/>
          </a:prstGeom>
          <a:solidFill>
            <a:srgbClr val="06A3F6"/>
          </a:solidFill>
          <a:ln/>
        </p:spPr>
      </p:sp>
      <p:sp>
        <p:nvSpPr>
          <p:cNvPr id="35" name="Shape 33"/>
          <p:cNvSpPr/>
          <p:nvPr/>
        </p:nvSpPr>
        <p:spPr>
          <a:xfrm>
            <a:off x="3886200" y="475488"/>
            <a:ext cx="352044" cy="22860"/>
          </a:xfrm>
          <a:prstGeom prst="rect">
            <a:avLst/>
          </a:prstGeom>
          <a:solidFill>
            <a:srgbClr val="069EF5"/>
          </a:solidFill>
          <a:ln/>
        </p:spPr>
      </p:sp>
      <p:sp>
        <p:nvSpPr>
          <p:cNvPr id="36" name="Shape 34"/>
          <p:cNvSpPr/>
          <p:nvPr/>
        </p:nvSpPr>
        <p:spPr>
          <a:xfrm>
            <a:off x="4229100" y="475488"/>
            <a:ext cx="352044" cy="22860"/>
          </a:xfrm>
          <a:prstGeom prst="rect">
            <a:avLst/>
          </a:prstGeom>
          <a:solidFill>
            <a:srgbClr val="0799F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475488"/>
            <a:ext cx="352044" cy="22860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4900" y="475488"/>
            <a:ext cx="352044" cy="22860"/>
          </a:xfrm>
          <a:prstGeom prst="rect">
            <a:avLst/>
          </a:prstGeom>
          <a:solidFill>
            <a:srgbClr val="0890F3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475488"/>
            <a:ext cx="352044" cy="22860"/>
          </a:xfrm>
          <a:prstGeom prst="rect">
            <a:avLst/>
          </a:prstGeom>
          <a:solidFill>
            <a:srgbClr val="098BF2"/>
          </a:solidFill>
          <a:ln/>
        </p:spPr>
      </p:sp>
      <p:sp>
        <p:nvSpPr>
          <p:cNvPr id="40" name="Shape 38"/>
          <p:cNvSpPr/>
          <p:nvPr/>
        </p:nvSpPr>
        <p:spPr>
          <a:xfrm>
            <a:off x="5600700" y="475488"/>
            <a:ext cx="352044" cy="22860"/>
          </a:xfrm>
          <a:prstGeom prst="rect">
            <a:avLst/>
          </a:prstGeom>
          <a:solidFill>
            <a:srgbClr val="0986F1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475488"/>
            <a:ext cx="352044" cy="22860"/>
          </a:xfrm>
          <a:prstGeom prst="rect">
            <a:avLst/>
          </a:prstGeom>
          <a:solidFill>
            <a:srgbClr val="0A81F0"/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475488"/>
            <a:ext cx="352044" cy="22860"/>
          </a:xfrm>
          <a:prstGeom prst="rect">
            <a:avLst/>
          </a:prstGeom>
          <a:solidFill>
            <a:srgbClr val="0B7CE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9400" y="475488"/>
            <a:ext cx="352044" cy="22860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44" name="Shape 42"/>
          <p:cNvSpPr/>
          <p:nvPr/>
        </p:nvSpPr>
        <p:spPr>
          <a:xfrm>
            <a:off x="6972300" y="475488"/>
            <a:ext cx="352044" cy="22860"/>
          </a:xfrm>
          <a:prstGeom prst="rect">
            <a:avLst/>
          </a:prstGeom>
          <a:solidFill>
            <a:srgbClr val="0C72ED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0" y="475488"/>
            <a:ext cx="352044" cy="22860"/>
          </a:xfrm>
          <a:prstGeom prst="rect">
            <a:avLst/>
          </a:prstGeom>
          <a:solidFill>
            <a:srgbClr val="0D6EEC"/>
          </a:solidFill>
          <a:ln/>
        </p:spPr>
      </p:sp>
      <p:sp>
        <p:nvSpPr>
          <p:cNvPr id="46" name="Shape 44"/>
          <p:cNvSpPr/>
          <p:nvPr/>
        </p:nvSpPr>
        <p:spPr>
          <a:xfrm>
            <a:off x="7658100" y="475488"/>
            <a:ext cx="352044" cy="22860"/>
          </a:xfrm>
          <a:prstGeom prst="rect">
            <a:avLst/>
          </a:prstGeom>
          <a:solidFill>
            <a:srgbClr val="0D69EB"/>
          </a:solidFill>
          <a:ln/>
        </p:spPr>
      </p:sp>
      <p:sp>
        <p:nvSpPr>
          <p:cNvPr id="47" name="Shape 45"/>
          <p:cNvSpPr/>
          <p:nvPr/>
        </p:nvSpPr>
        <p:spPr>
          <a:xfrm>
            <a:off x="8001000" y="475488"/>
            <a:ext cx="352044" cy="22860"/>
          </a:xfrm>
          <a:prstGeom prst="rect">
            <a:avLst/>
          </a:prstGeom>
          <a:solidFill>
            <a:srgbClr val="0E64EA"/>
          </a:solidFill>
          <a:ln/>
        </p:spPr>
      </p:sp>
      <p:sp>
        <p:nvSpPr>
          <p:cNvPr id="48" name="Shape 46"/>
          <p:cNvSpPr/>
          <p:nvPr/>
        </p:nvSpPr>
        <p:spPr>
          <a:xfrm>
            <a:off x="8343900" y="475488"/>
            <a:ext cx="352044" cy="22860"/>
          </a:xfrm>
          <a:prstGeom prst="rect">
            <a:avLst/>
          </a:prstGeom>
          <a:solidFill>
            <a:srgbClr val="0E5FE9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6692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5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× DeFi: A New Category</a:t>
            </a:r>
            <a:endParaRPr lang="en-US" sz="2800" dirty="0"/>
          </a:p>
        </p:txBody>
      </p:sp>
      <p:sp>
        <p:nvSpPr>
          <p:cNvPr id="50" name="Shape 48"/>
          <p:cNvSpPr/>
          <p:nvPr/>
        </p:nvSpPr>
        <p:spPr>
          <a:xfrm>
            <a:off x="274320" y="1572768"/>
            <a:ext cx="4160520" cy="146304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1572768"/>
            <a:ext cx="4160520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1700784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$12B+</a:t>
            </a:r>
            <a:endParaRPr lang="en-US" sz="4800" dirty="0"/>
          </a:p>
        </p:txBody>
      </p:sp>
      <p:sp>
        <p:nvSpPr>
          <p:cNvPr id="53" name="Text 51"/>
          <p:cNvSpPr/>
          <p:nvPr/>
        </p:nvSpPr>
        <p:spPr>
          <a:xfrm>
            <a:off x="457200" y="25786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BDD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 Lending TVL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market for AI-native credit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17720" y="1572768"/>
            <a:ext cx="4160520" cy="146304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17720" y="1572768"/>
            <a:ext cx="4160520" cy="22860"/>
          </a:xfrm>
          <a:prstGeom prst="rect">
            <a:avLst/>
          </a:prstGeom>
          <a:solidFill>
            <a:srgbClr val="00EF9F"/>
          </a:solidFill>
          <a:ln/>
        </p:spPr>
      </p:sp>
      <p:sp>
        <p:nvSpPr>
          <p:cNvPr id="57" name="Text 55"/>
          <p:cNvSpPr/>
          <p:nvPr/>
        </p:nvSpPr>
        <p:spPr>
          <a:xfrm>
            <a:off x="4800600" y="1700784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00E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58" name="Text 56"/>
          <p:cNvSpPr/>
          <p:nvPr/>
        </p:nvSpPr>
        <p:spPr>
          <a:xfrm>
            <a:off x="4800600" y="25786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BDD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Competitors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800600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credit protocol exists on any chain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3200400"/>
            <a:ext cx="4160520" cy="146304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3200400"/>
            <a:ext cx="4160520" cy="228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3328416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4800" dirty="0"/>
          </a:p>
        </p:txBody>
      </p:sp>
      <p:sp>
        <p:nvSpPr>
          <p:cNvPr id="63" name="Text 61"/>
          <p:cNvSpPr/>
          <p:nvPr/>
        </p:nvSpPr>
        <p:spPr>
          <a:xfrm>
            <a:off x="457200" y="42062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BDD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Apollo 2026 Trend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57200" y="44074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'Credit for AI agents' top DeFi+AI signal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17720" y="3200400"/>
            <a:ext cx="4160520" cy="146304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17720" y="3200400"/>
            <a:ext cx="4160520" cy="22860"/>
          </a:xfrm>
          <a:prstGeom prst="rect">
            <a:avLst/>
          </a:prstGeom>
          <a:solidFill>
            <a:srgbClr val="8B2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800600" y="3328416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8B2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4800" dirty="0"/>
          </a:p>
        </p:txBody>
      </p:sp>
      <p:sp>
        <p:nvSpPr>
          <p:cNvPr id="68" name="Text 66"/>
          <p:cNvSpPr/>
          <p:nvPr/>
        </p:nvSpPr>
        <p:spPr>
          <a:xfrm>
            <a:off x="4800600" y="42062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BDD5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0G Components Used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800600" y="44074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F6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Deepest 0G integration in this category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7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103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66344" cy="274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466344" cy="27432"/>
          </a:xfrm>
          <a:prstGeom prst="rect">
            <a:avLst/>
          </a:prstGeom>
          <a:solidFill>
            <a:srgbClr val="01C9F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0"/>
            <a:ext cx="466344" cy="27432"/>
          </a:xfrm>
          <a:prstGeom prst="rect">
            <a:avLst/>
          </a:prstGeom>
          <a:solidFill>
            <a:srgbClr val="02C3FD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0"/>
            <a:ext cx="466344" cy="27432"/>
          </a:xfrm>
          <a:prstGeom prst="rect">
            <a:avLst/>
          </a:prstGeom>
          <a:solidFill>
            <a:srgbClr val="02BDFC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0"/>
            <a:ext cx="466344" cy="27432"/>
          </a:xfrm>
          <a:prstGeom prst="rect">
            <a:avLst/>
          </a:prstGeom>
          <a:solidFill>
            <a:srgbClr val="03B8F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0"/>
            <a:ext cx="466344" cy="27432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466344" cy="27432"/>
          </a:xfrm>
          <a:prstGeom prst="rect">
            <a:avLst/>
          </a:prstGeom>
          <a:solidFill>
            <a:srgbClr val="05A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0"/>
            <a:ext cx="466344" cy="27432"/>
          </a:xfrm>
          <a:prstGeom prst="rect">
            <a:avLst/>
          </a:prstGeom>
          <a:solidFill>
            <a:srgbClr val="05A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0"/>
            <a:ext cx="466344" cy="27432"/>
          </a:xfrm>
          <a:prstGeom prst="rect">
            <a:avLst/>
          </a:prstGeom>
          <a:solidFill>
            <a:srgbClr val="06A0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0"/>
            <a:ext cx="466344" cy="27432"/>
          </a:xfrm>
          <a:prstGeom prst="rect">
            <a:avLst/>
          </a:prstGeom>
          <a:solidFill>
            <a:srgbClr val="079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0"/>
            <a:ext cx="466344" cy="27432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0"/>
            <a:ext cx="466344" cy="27432"/>
          </a:xfrm>
          <a:prstGeom prst="rect">
            <a:avLst/>
          </a:prstGeom>
          <a:solidFill>
            <a:srgbClr val="088F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0"/>
            <a:ext cx="466344" cy="27432"/>
          </a:xfrm>
          <a:prstGeom prst="rect">
            <a:avLst/>
          </a:prstGeom>
          <a:solidFill>
            <a:srgbClr val="0989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0"/>
            <a:ext cx="466344" cy="27432"/>
          </a:xfrm>
          <a:prstGeom prst="rect">
            <a:avLst/>
          </a:prstGeom>
          <a:solidFill>
            <a:srgbClr val="0A8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0"/>
            <a:ext cx="466344" cy="27432"/>
          </a:xfrm>
          <a:prstGeom prst="rect">
            <a:avLst/>
          </a:prstGeom>
          <a:solidFill>
            <a:srgbClr val="0B7D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0"/>
            <a:ext cx="466344" cy="27432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0"/>
            <a:ext cx="466344" cy="27432"/>
          </a:xfrm>
          <a:prstGeom prst="rect">
            <a:avLst/>
          </a:prstGeom>
          <a:solidFill>
            <a:srgbClr val="0C71E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0"/>
            <a:ext cx="466344" cy="27432"/>
          </a:xfrm>
          <a:prstGeom prst="rect">
            <a:avLst/>
          </a:prstGeom>
          <a:solidFill>
            <a:srgbClr val="0D6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0"/>
            <a:ext cx="466344" cy="27432"/>
          </a:xfrm>
          <a:prstGeom prst="rect">
            <a:avLst/>
          </a:prstGeom>
          <a:solidFill>
            <a:srgbClr val="0E6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0"/>
            <a:ext cx="466344" cy="27432"/>
          </a:xfrm>
          <a:prstGeom prst="rect">
            <a:avLst/>
          </a:prstGeom>
          <a:solidFill>
            <a:srgbClr val="0E60E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645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WHY WE WIN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"/>
            <a:ext cx="352044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00100" y="475488"/>
            <a:ext cx="352044" cy="22860"/>
          </a:xfrm>
          <a:prstGeom prst="rect">
            <a:avLst/>
          </a:prstGeom>
          <a:solidFill>
            <a:srgbClr val="01C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" y="475488"/>
            <a:ext cx="352044" cy="22860"/>
          </a:xfrm>
          <a:prstGeom prst="rect">
            <a:avLst/>
          </a:prstGeom>
          <a:solidFill>
            <a:srgbClr val="01C5FD"/>
          </a:solidFill>
          <a:ln/>
        </p:spPr>
      </p:sp>
      <p:sp>
        <p:nvSpPr>
          <p:cNvPr id="28" name="Shape 26"/>
          <p:cNvSpPr/>
          <p:nvPr/>
        </p:nvSpPr>
        <p:spPr>
          <a:xfrm>
            <a:off x="1485900" y="475488"/>
            <a:ext cx="352044" cy="22860"/>
          </a:xfrm>
          <a:prstGeom prst="rect">
            <a:avLst/>
          </a:prstGeom>
          <a:solidFill>
            <a:srgbClr val="02C0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0" y="475488"/>
            <a:ext cx="352044" cy="22860"/>
          </a:xfrm>
          <a:prstGeom prst="rect">
            <a:avLst/>
          </a:prstGeom>
          <a:solidFill>
            <a:srgbClr val="03BCFB"/>
          </a:solidFill>
          <a:ln/>
        </p:spPr>
      </p:sp>
      <p:sp>
        <p:nvSpPr>
          <p:cNvPr id="30" name="Shape 28"/>
          <p:cNvSpPr/>
          <p:nvPr/>
        </p:nvSpPr>
        <p:spPr>
          <a:xfrm>
            <a:off x="2171700" y="475488"/>
            <a:ext cx="352044" cy="22860"/>
          </a:xfrm>
          <a:prstGeom prst="rect">
            <a:avLst/>
          </a:prstGeom>
          <a:solidFill>
            <a:srgbClr val="03B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2514600" y="475488"/>
            <a:ext cx="352044" cy="22860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857500" y="475488"/>
            <a:ext cx="352044" cy="22860"/>
          </a:xfrm>
          <a:prstGeom prst="rect">
            <a:avLst/>
          </a:prstGeom>
          <a:solidFill>
            <a:srgbClr val="04A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475488"/>
            <a:ext cx="352044" cy="22860"/>
          </a:xfrm>
          <a:prstGeom prst="rect">
            <a:avLst/>
          </a:prstGeom>
          <a:solidFill>
            <a:srgbClr val="05A8F7"/>
          </a:solidFill>
          <a:ln/>
        </p:spPr>
      </p:sp>
      <p:sp>
        <p:nvSpPr>
          <p:cNvPr id="34" name="Shape 32"/>
          <p:cNvSpPr/>
          <p:nvPr/>
        </p:nvSpPr>
        <p:spPr>
          <a:xfrm>
            <a:off x="3543300" y="475488"/>
            <a:ext cx="352044" cy="22860"/>
          </a:xfrm>
          <a:prstGeom prst="rect">
            <a:avLst/>
          </a:prstGeom>
          <a:solidFill>
            <a:srgbClr val="06A3F6"/>
          </a:solidFill>
          <a:ln/>
        </p:spPr>
      </p:sp>
      <p:sp>
        <p:nvSpPr>
          <p:cNvPr id="35" name="Shape 33"/>
          <p:cNvSpPr/>
          <p:nvPr/>
        </p:nvSpPr>
        <p:spPr>
          <a:xfrm>
            <a:off x="3886200" y="475488"/>
            <a:ext cx="352044" cy="22860"/>
          </a:xfrm>
          <a:prstGeom prst="rect">
            <a:avLst/>
          </a:prstGeom>
          <a:solidFill>
            <a:srgbClr val="069EF5"/>
          </a:solidFill>
          <a:ln/>
        </p:spPr>
      </p:sp>
      <p:sp>
        <p:nvSpPr>
          <p:cNvPr id="36" name="Shape 34"/>
          <p:cNvSpPr/>
          <p:nvPr/>
        </p:nvSpPr>
        <p:spPr>
          <a:xfrm>
            <a:off x="4229100" y="475488"/>
            <a:ext cx="352044" cy="22860"/>
          </a:xfrm>
          <a:prstGeom prst="rect">
            <a:avLst/>
          </a:prstGeom>
          <a:solidFill>
            <a:srgbClr val="0799F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475488"/>
            <a:ext cx="352044" cy="22860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914900" y="475488"/>
            <a:ext cx="352044" cy="22860"/>
          </a:xfrm>
          <a:prstGeom prst="rect">
            <a:avLst/>
          </a:prstGeom>
          <a:solidFill>
            <a:srgbClr val="0890F3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475488"/>
            <a:ext cx="352044" cy="22860"/>
          </a:xfrm>
          <a:prstGeom prst="rect">
            <a:avLst/>
          </a:prstGeom>
          <a:solidFill>
            <a:srgbClr val="098BF2"/>
          </a:solidFill>
          <a:ln/>
        </p:spPr>
      </p:sp>
      <p:sp>
        <p:nvSpPr>
          <p:cNvPr id="40" name="Shape 38"/>
          <p:cNvSpPr/>
          <p:nvPr/>
        </p:nvSpPr>
        <p:spPr>
          <a:xfrm>
            <a:off x="5600700" y="475488"/>
            <a:ext cx="352044" cy="22860"/>
          </a:xfrm>
          <a:prstGeom prst="rect">
            <a:avLst/>
          </a:prstGeom>
          <a:solidFill>
            <a:srgbClr val="0986F1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475488"/>
            <a:ext cx="352044" cy="22860"/>
          </a:xfrm>
          <a:prstGeom prst="rect">
            <a:avLst/>
          </a:prstGeom>
          <a:solidFill>
            <a:srgbClr val="0A81F0"/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475488"/>
            <a:ext cx="352044" cy="22860"/>
          </a:xfrm>
          <a:prstGeom prst="rect">
            <a:avLst/>
          </a:prstGeom>
          <a:solidFill>
            <a:srgbClr val="0B7CE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9400" y="475488"/>
            <a:ext cx="352044" cy="22860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44" name="Shape 42"/>
          <p:cNvSpPr/>
          <p:nvPr/>
        </p:nvSpPr>
        <p:spPr>
          <a:xfrm>
            <a:off x="6972300" y="475488"/>
            <a:ext cx="352044" cy="22860"/>
          </a:xfrm>
          <a:prstGeom prst="rect">
            <a:avLst/>
          </a:prstGeom>
          <a:solidFill>
            <a:srgbClr val="0C72ED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0" y="475488"/>
            <a:ext cx="352044" cy="22860"/>
          </a:xfrm>
          <a:prstGeom prst="rect">
            <a:avLst/>
          </a:prstGeom>
          <a:solidFill>
            <a:srgbClr val="0D6EEC"/>
          </a:solidFill>
          <a:ln/>
        </p:spPr>
      </p:sp>
      <p:sp>
        <p:nvSpPr>
          <p:cNvPr id="46" name="Shape 44"/>
          <p:cNvSpPr/>
          <p:nvPr/>
        </p:nvSpPr>
        <p:spPr>
          <a:xfrm>
            <a:off x="7658100" y="475488"/>
            <a:ext cx="352044" cy="22860"/>
          </a:xfrm>
          <a:prstGeom prst="rect">
            <a:avLst/>
          </a:prstGeom>
          <a:solidFill>
            <a:srgbClr val="0D69EB"/>
          </a:solidFill>
          <a:ln/>
        </p:spPr>
      </p:sp>
      <p:sp>
        <p:nvSpPr>
          <p:cNvPr id="47" name="Shape 45"/>
          <p:cNvSpPr/>
          <p:nvPr/>
        </p:nvSpPr>
        <p:spPr>
          <a:xfrm>
            <a:off x="8001000" y="475488"/>
            <a:ext cx="352044" cy="22860"/>
          </a:xfrm>
          <a:prstGeom prst="rect">
            <a:avLst/>
          </a:prstGeom>
          <a:solidFill>
            <a:srgbClr val="0E64EA"/>
          </a:solidFill>
          <a:ln/>
        </p:spPr>
      </p:sp>
      <p:sp>
        <p:nvSpPr>
          <p:cNvPr id="48" name="Shape 46"/>
          <p:cNvSpPr/>
          <p:nvPr/>
        </p:nvSpPr>
        <p:spPr>
          <a:xfrm>
            <a:off x="8343900" y="475488"/>
            <a:ext cx="352044" cy="22860"/>
          </a:xfrm>
          <a:prstGeom prst="rect">
            <a:avLst/>
          </a:prstGeom>
          <a:solidFill>
            <a:srgbClr val="0E5FE9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6692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5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Win the 0G Bridge</a:t>
            </a:r>
            <a:endParaRPr lang="en-US" sz="2800" dirty="0"/>
          </a:p>
        </p:txBody>
      </p:sp>
      <p:sp>
        <p:nvSpPr>
          <p:cNvPr id="50" name="Shape 48"/>
          <p:cNvSpPr/>
          <p:nvPr/>
        </p:nvSpPr>
        <p:spPr>
          <a:xfrm>
            <a:off x="274320" y="1572768"/>
            <a:ext cx="2816352" cy="137160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1572768"/>
            <a:ext cx="2816352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20624" y="1664208"/>
            <a:ext cx="329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804672" y="1682496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0G Fit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20624" y="20299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5 components in one cohesive system. Compute + Chain + Storage + Pay — not just Chain.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18688" y="1572768"/>
            <a:ext cx="2816352" cy="137160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18688" y="1572768"/>
            <a:ext cx="2816352" cy="22860"/>
          </a:xfrm>
          <a:prstGeom prst="rect">
            <a:avLst/>
          </a:prstGeom>
          <a:solidFill>
            <a:srgbClr val="00EF9F"/>
          </a:solidFill>
          <a:ln/>
        </p:spPr>
      </p:sp>
      <p:sp>
        <p:nvSpPr>
          <p:cNvPr id="57" name="Text 55"/>
          <p:cNvSpPr/>
          <p:nvPr/>
        </p:nvSpPr>
        <p:spPr>
          <a:xfrm>
            <a:off x="3364992" y="1664208"/>
            <a:ext cx="329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E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⟶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3749040" y="1682496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Market Gap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364992" y="20299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competitors. CreditFi creates a new category rather than competing in a crowded space.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163056" y="1572768"/>
            <a:ext cx="2816352" cy="137160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63056" y="1572768"/>
            <a:ext cx="2816352" cy="2286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2" name="Text 60"/>
          <p:cNvSpPr/>
          <p:nvPr/>
        </p:nvSpPr>
        <p:spPr>
          <a:xfrm>
            <a:off x="6309360" y="1664208"/>
            <a:ext cx="329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6693408" y="1682496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in Wave 1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309360" y="20299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Contract, AI model, full 7-tab dApp, 17 tests, pitch deck — all verifiably working.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3072384"/>
            <a:ext cx="2816352" cy="137160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3072384"/>
            <a:ext cx="2816352" cy="22860"/>
          </a:xfrm>
          <a:prstGeom prst="rect">
            <a:avLst/>
          </a:prstGeom>
          <a:solidFill>
            <a:srgbClr val="8B2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20624" y="3163824"/>
            <a:ext cx="329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2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04672" y="318211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 Thesis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20624" y="3529584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addresses #1 DeFi+AI trend in Apollo 2026: credit for AI agents.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218688" y="3072384"/>
            <a:ext cx="2816352" cy="137160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18688" y="3072384"/>
            <a:ext cx="2816352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72" name="Text 70"/>
          <p:cNvSpPr/>
          <p:nvPr/>
        </p:nvSpPr>
        <p:spPr>
          <a:xfrm>
            <a:off x="3364992" y="3163824"/>
            <a:ext cx="329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3749040" y="318211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&amp; Scalable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364992" y="3529584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component deliverable solo on schedule. No team risk, no dependency drift.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163056" y="3072384"/>
            <a:ext cx="2816352" cy="1371600"/>
          </a:xfrm>
          <a:prstGeom prst="rect">
            <a:avLst/>
          </a:prstGeom>
          <a:solidFill>
            <a:srgbClr val="0C1420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63056" y="3072384"/>
            <a:ext cx="2816352" cy="22860"/>
          </a:xfrm>
          <a:prstGeom prst="rect">
            <a:avLst/>
          </a:prstGeom>
          <a:solidFill>
            <a:srgbClr val="00EF9F"/>
          </a:solidFill>
          <a:ln/>
        </p:spPr>
      </p:sp>
      <p:sp>
        <p:nvSpPr>
          <p:cNvPr id="77" name="Text 75"/>
          <p:cNvSpPr/>
          <p:nvPr/>
        </p:nvSpPr>
        <p:spPr>
          <a:xfrm>
            <a:off x="6309360" y="3163824"/>
            <a:ext cx="329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E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6693408" y="318211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Day Ready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309360" y="3529584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Token2049 pitch arc built from day one. Not retrofitted — CreditFi is designed to present.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7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0103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66344" cy="27432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0"/>
            <a:ext cx="466344" cy="27432"/>
          </a:xfrm>
          <a:prstGeom prst="rect">
            <a:avLst/>
          </a:prstGeom>
          <a:solidFill>
            <a:srgbClr val="01C9F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0"/>
            <a:ext cx="466344" cy="27432"/>
          </a:xfrm>
          <a:prstGeom prst="rect">
            <a:avLst/>
          </a:prstGeom>
          <a:solidFill>
            <a:srgbClr val="02C3FD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0"/>
            <a:ext cx="466344" cy="27432"/>
          </a:xfrm>
          <a:prstGeom prst="rect">
            <a:avLst/>
          </a:prstGeom>
          <a:solidFill>
            <a:srgbClr val="02BDFC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0"/>
            <a:ext cx="466344" cy="27432"/>
          </a:xfrm>
          <a:prstGeom prst="rect">
            <a:avLst/>
          </a:prstGeom>
          <a:solidFill>
            <a:srgbClr val="03B8F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0"/>
            <a:ext cx="466344" cy="27432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466344" cy="27432"/>
          </a:xfrm>
          <a:prstGeom prst="rect">
            <a:avLst/>
          </a:prstGeom>
          <a:solidFill>
            <a:srgbClr val="05A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0"/>
            <a:ext cx="466344" cy="27432"/>
          </a:xfrm>
          <a:prstGeom prst="rect">
            <a:avLst/>
          </a:prstGeom>
          <a:solidFill>
            <a:srgbClr val="05A6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0"/>
            <a:ext cx="466344" cy="27432"/>
          </a:xfrm>
          <a:prstGeom prst="rect">
            <a:avLst/>
          </a:prstGeom>
          <a:solidFill>
            <a:srgbClr val="06A0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0" y="0"/>
            <a:ext cx="466344" cy="27432"/>
          </a:xfrm>
          <a:prstGeom prst="rect">
            <a:avLst/>
          </a:prstGeom>
          <a:solidFill>
            <a:srgbClr val="079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0"/>
            <a:ext cx="466344" cy="27432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0"/>
            <a:ext cx="466344" cy="27432"/>
          </a:xfrm>
          <a:prstGeom prst="rect">
            <a:avLst/>
          </a:prstGeom>
          <a:solidFill>
            <a:srgbClr val="088FF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0"/>
            <a:ext cx="466344" cy="27432"/>
          </a:xfrm>
          <a:prstGeom prst="rect">
            <a:avLst/>
          </a:prstGeom>
          <a:solidFill>
            <a:srgbClr val="0989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0"/>
            <a:ext cx="466344" cy="27432"/>
          </a:xfrm>
          <a:prstGeom prst="rect">
            <a:avLst/>
          </a:prstGeom>
          <a:solidFill>
            <a:srgbClr val="0A8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0"/>
            <a:ext cx="466344" cy="27432"/>
          </a:xfrm>
          <a:prstGeom prst="rect">
            <a:avLst/>
          </a:prstGeom>
          <a:solidFill>
            <a:srgbClr val="0B7DE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0" y="0"/>
            <a:ext cx="466344" cy="27432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0"/>
            <a:ext cx="466344" cy="27432"/>
          </a:xfrm>
          <a:prstGeom prst="rect">
            <a:avLst/>
          </a:prstGeom>
          <a:solidFill>
            <a:srgbClr val="0C71ED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0"/>
            <a:ext cx="466344" cy="27432"/>
          </a:xfrm>
          <a:prstGeom prst="rect">
            <a:avLst/>
          </a:prstGeom>
          <a:solidFill>
            <a:srgbClr val="0D6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0"/>
            <a:ext cx="466344" cy="27432"/>
          </a:xfrm>
          <a:prstGeom prst="rect">
            <a:avLst/>
          </a:prstGeom>
          <a:solidFill>
            <a:srgbClr val="0E6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0" y="0"/>
            <a:ext cx="466344" cy="27432"/>
          </a:xfrm>
          <a:prstGeom prst="rect">
            <a:avLst/>
          </a:prstGeom>
          <a:solidFill>
            <a:srgbClr val="0E60E9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0" y="457200"/>
            <a:ext cx="5486400" cy="4754880"/>
          </a:xfrm>
          <a:prstGeom prst="ellipse">
            <a:avLst/>
          </a:prstGeom>
          <a:solidFill>
            <a:srgbClr val="001428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0" y="2011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WAVE 1 COMPLETE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502920"/>
            <a:ext cx="390144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81000" y="502920"/>
            <a:ext cx="390144" cy="22860"/>
          </a:xfrm>
          <a:prstGeom prst="rect">
            <a:avLst/>
          </a:prstGeom>
          <a:solidFill>
            <a:srgbClr val="01CAFE"/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502920"/>
            <a:ext cx="390144" cy="22860"/>
          </a:xfrm>
          <a:prstGeom prst="rect">
            <a:avLst/>
          </a:prstGeom>
          <a:solidFill>
            <a:srgbClr val="01C5FD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502920"/>
            <a:ext cx="390144" cy="22860"/>
          </a:xfrm>
          <a:prstGeom prst="rect">
            <a:avLst/>
          </a:prstGeom>
          <a:solidFill>
            <a:srgbClr val="02C0FC"/>
          </a:solidFill>
          <a:ln/>
        </p:spPr>
      </p:sp>
      <p:sp>
        <p:nvSpPr>
          <p:cNvPr id="30" name="Shape 28"/>
          <p:cNvSpPr/>
          <p:nvPr/>
        </p:nvSpPr>
        <p:spPr>
          <a:xfrm>
            <a:off x="1524000" y="502920"/>
            <a:ext cx="390144" cy="22860"/>
          </a:xfrm>
          <a:prstGeom prst="rect">
            <a:avLst/>
          </a:prstGeom>
          <a:solidFill>
            <a:srgbClr val="03BCFB"/>
          </a:solidFill>
          <a:ln/>
        </p:spPr>
      </p:sp>
      <p:sp>
        <p:nvSpPr>
          <p:cNvPr id="31" name="Shape 29"/>
          <p:cNvSpPr/>
          <p:nvPr/>
        </p:nvSpPr>
        <p:spPr>
          <a:xfrm>
            <a:off x="1905000" y="502920"/>
            <a:ext cx="390144" cy="22860"/>
          </a:xfrm>
          <a:prstGeom prst="rect">
            <a:avLst/>
          </a:prstGeom>
          <a:solidFill>
            <a:srgbClr val="03B7FA"/>
          </a:solidFill>
          <a:ln/>
        </p:spPr>
      </p:sp>
      <p:sp>
        <p:nvSpPr>
          <p:cNvPr id="32" name="Shape 30"/>
          <p:cNvSpPr/>
          <p:nvPr/>
        </p:nvSpPr>
        <p:spPr>
          <a:xfrm>
            <a:off x="2286000" y="502920"/>
            <a:ext cx="390144" cy="22860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502920"/>
            <a:ext cx="390144" cy="22860"/>
          </a:xfrm>
          <a:prstGeom prst="rect">
            <a:avLst/>
          </a:prstGeom>
          <a:solidFill>
            <a:srgbClr val="04ADF8"/>
          </a:solidFill>
          <a:ln/>
        </p:spPr>
      </p:sp>
      <p:sp>
        <p:nvSpPr>
          <p:cNvPr id="34" name="Shape 32"/>
          <p:cNvSpPr/>
          <p:nvPr/>
        </p:nvSpPr>
        <p:spPr>
          <a:xfrm>
            <a:off x="3048000" y="502920"/>
            <a:ext cx="390144" cy="22860"/>
          </a:xfrm>
          <a:prstGeom prst="rect">
            <a:avLst/>
          </a:prstGeom>
          <a:solidFill>
            <a:srgbClr val="05A8F7"/>
          </a:solidFill>
          <a:ln/>
        </p:spPr>
      </p:sp>
      <p:sp>
        <p:nvSpPr>
          <p:cNvPr id="35" name="Shape 33"/>
          <p:cNvSpPr/>
          <p:nvPr/>
        </p:nvSpPr>
        <p:spPr>
          <a:xfrm>
            <a:off x="3429000" y="502920"/>
            <a:ext cx="390144" cy="22860"/>
          </a:xfrm>
          <a:prstGeom prst="rect">
            <a:avLst/>
          </a:prstGeom>
          <a:solidFill>
            <a:srgbClr val="06A3F6"/>
          </a:solidFill>
          <a:ln/>
        </p:spPr>
      </p:sp>
      <p:sp>
        <p:nvSpPr>
          <p:cNvPr id="36" name="Shape 34"/>
          <p:cNvSpPr/>
          <p:nvPr/>
        </p:nvSpPr>
        <p:spPr>
          <a:xfrm>
            <a:off x="3810000" y="502920"/>
            <a:ext cx="390144" cy="22860"/>
          </a:xfrm>
          <a:prstGeom prst="rect">
            <a:avLst/>
          </a:prstGeom>
          <a:solidFill>
            <a:srgbClr val="069EF5"/>
          </a:solidFill>
          <a:ln/>
        </p:spPr>
      </p:sp>
      <p:sp>
        <p:nvSpPr>
          <p:cNvPr id="37" name="Shape 35"/>
          <p:cNvSpPr/>
          <p:nvPr/>
        </p:nvSpPr>
        <p:spPr>
          <a:xfrm>
            <a:off x="4191000" y="502920"/>
            <a:ext cx="390144" cy="22860"/>
          </a:xfrm>
          <a:prstGeom prst="rect">
            <a:avLst/>
          </a:prstGeom>
          <a:solidFill>
            <a:srgbClr val="0799F4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502920"/>
            <a:ext cx="390144" cy="22860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502920"/>
            <a:ext cx="390144" cy="22860"/>
          </a:xfrm>
          <a:prstGeom prst="rect">
            <a:avLst/>
          </a:prstGeom>
          <a:solidFill>
            <a:srgbClr val="0890F3"/>
          </a:solidFill>
          <a:ln/>
        </p:spPr>
      </p:sp>
      <p:sp>
        <p:nvSpPr>
          <p:cNvPr id="40" name="Shape 38"/>
          <p:cNvSpPr/>
          <p:nvPr/>
        </p:nvSpPr>
        <p:spPr>
          <a:xfrm>
            <a:off x="5334000" y="502920"/>
            <a:ext cx="390144" cy="22860"/>
          </a:xfrm>
          <a:prstGeom prst="rect">
            <a:avLst/>
          </a:prstGeom>
          <a:solidFill>
            <a:srgbClr val="098BF2"/>
          </a:solidFill>
          <a:ln/>
        </p:spPr>
      </p:sp>
      <p:sp>
        <p:nvSpPr>
          <p:cNvPr id="41" name="Shape 39"/>
          <p:cNvSpPr/>
          <p:nvPr/>
        </p:nvSpPr>
        <p:spPr>
          <a:xfrm>
            <a:off x="5715000" y="502920"/>
            <a:ext cx="390144" cy="22860"/>
          </a:xfrm>
          <a:prstGeom prst="rect">
            <a:avLst/>
          </a:prstGeom>
          <a:solidFill>
            <a:srgbClr val="0986F1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6000" y="502920"/>
            <a:ext cx="390144" cy="22860"/>
          </a:xfrm>
          <a:prstGeom prst="rect">
            <a:avLst/>
          </a:prstGeom>
          <a:solidFill>
            <a:srgbClr val="0A81F0"/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502920"/>
            <a:ext cx="390144" cy="22860"/>
          </a:xfrm>
          <a:prstGeom prst="rect">
            <a:avLst/>
          </a:prstGeom>
          <a:solidFill>
            <a:srgbClr val="0B7CEF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0" y="502920"/>
            <a:ext cx="390144" cy="22860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45" name="Shape 43"/>
          <p:cNvSpPr/>
          <p:nvPr/>
        </p:nvSpPr>
        <p:spPr>
          <a:xfrm>
            <a:off x="7239000" y="502920"/>
            <a:ext cx="390144" cy="22860"/>
          </a:xfrm>
          <a:prstGeom prst="rect">
            <a:avLst/>
          </a:prstGeom>
          <a:solidFill>
            <a:srgbClr val="0C72ED"/>
          </a:solidFill>
          <a:ln/>
        </p:spPr>
      </p:sp>
      <p:sp>
        <p:nvSpPr>
          <p:cNvPr id="46" name="Shape 44"/>
          <p:cNvSpPr/>
          <p:nvPr/>
        </p:nvSpPr>
        <p:spPr>
          <a:xfrm>
            <a:off x="7620000" y="502920"/>
            <a:ext cx="390144" cy="22860"/>
          </a:xfrm>
          <a:prstGeom prst="rect">
            <a:avLst/>
          </a:prstGeom>
          <a:solidFill>
            <a:srgbClr val="0D6EEC"/>
          </a:solidFill>
          <a:ln/>
        </p:spPr>
      </p:sp>
      <p:sp>
        <p:nvSpPr>
          <p:cNvPr id="47" name="Shape 45"/>
          <p:cNvSpPr/>
          <p:nvPr/>
        </p:nvSpPr>
        <p:spPr>
          <a:xfrm>
            <a:off x="8001000" y="502920"/>
            <a:ext cx="390144" cy="22860"/>
          </a:xfrm>
          <a:prstGeom prst="rect">
            <a:avLst/>
          </a:prstGeom>
          <a:solidFill>
            <a:srgbClr val="0D69EB"/>
          </a:solidFill>
          <a:ln/>
        </p:spPr>
      </p:sp>
      <p:sp>
        <p:nvSpPr>
          <p:cNvPr id="48" name="Shape 46"/>
          <p:cNvSpPr/>
          <p:nvPr/>
        </p:nvSpPr>
        <p:spPr>
          <a:xfrm>
            <a:off x="8382000" y="502920"/>
            <a:ext cx="390144" cy="22860"/>
          </a:xfrm>
          <a:prstGeom prst="rect">
            <a:avLst/>
          </a:prstGeom>
          <a:solidFill>
            <a:srgbClr val="0E64EA"/>
          </a:solidFill>
          <a:ln/>
        </p:spPr>
      </p:sp>
      <p:sp>
        <p:nvSpPr>
          <p:cNvPr id="49" name="Shape 47"/>
          <p:cNvSpPr/>
          <p:nvPr/>
        </p:nvSpPr>
        <p:spPr>
          <a:xfrm>
            <a:off x="8763000" y="502920"/>
            <a:ext cx="390144" cy="22860"/>
          </a:xfrm>
          <a:prstGeom prst="rect">
            <a:avLst/>
          </a:prstGeom>
          <a:solidFill>
            <a:srgbClr val="0E5FE9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713232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0" b="1" spc="-15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</a:t>
            </a:r>
            <a:endParaRPr lang="en-US" sz="6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6000" b="1" spc="-150" kern="0" dirty="0">
                <a:solidFill>
                  <a:srgbClr val="E2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Open.</a:t>
            </a:r>
            <a:endParaRPr lang="en-US" sz="6000" dirty="0"/>
          </a:p>
        </p:txBody>
      </p:sp>
      <p:sp>
        <p:nvSpPr>
          <p:cNvPr id="51" name="Shape 49"/>
          <p:cNvSpPr/>
          <p:nvPr/>
        </p:nvSpPr>
        <p:spPr>
          <a:xfrm>
            <a:off x="274320" y="3474720"/>
            <a:ext cx="4160520" cy="438912"/>
          </a:xfrm>
          <a:prstGeom prst="rect">
            <a:avLst/>
          </a:prstGeom>
          <a:solidFill>
            <a:srgbClr val="101C2C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0624" y="3566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280160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6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github.com/[handle]/0g-creditfi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17720" y="3474720"/>
            <a:ext cx="4160520" cy="438912"/>
          </a:xfrm>
          <a:prstGeom prst="rect">
            <a:avLst/>
          </a:prstGeom>
          <a:solidFill>
            <a:srgbClr val="101C2C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64024" y="3566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623560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6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0G Testnet — deployed Wave 2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4023360"/>
            <a:ext cx="4160520" cy="438912"/>
          </a:xfrm>
          <a:prstGeom prst="rect">
            <a:avLst/>
          </a:prstGeom>
          <a:solidFill>
            <a:srgbClr val="101C2C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0624" y="41148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dApp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28016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6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frontend/index.html · works now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17720" y="4023360"/>
            <a:ext cx="4160520" cy="438912"/>
          </a:xfrm>
          <a:prstGeom prst="rect">
            <a:avLst/>
          </a:prstGeom>
          <a:solidFill>
            <a:srgbClr val="101C2C"/>
          </a:solidFill>
          <a:ln w="7620">
            <a:solidFill>
              <a:srgbClr val="1A2E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64024" y="41148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00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Post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623560" y="4114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6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#0GBridge #BuildOn0G · all tags ready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0" y="4892040"/>
            <a:ext cx="390144" cy="2286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381000" y="4892040"/>
            <a:ext cx="390144" cy="22860"/>
          </a:xfrm>
          <a:prstGeom prst="rect">
            <a:avLst/>
          </a:prstGeom>
          <a:solidFill>
            <a:srgbClr val="01CAFE"/>
          </a:solidFill>
          <a:ln/>
        </p:spPr>
      </p:sp>
      <p:sp>
        <p:nvSpPr>
          <p:cNvPr id="65" name="Shape 63"/>
          <p:cNvSpPr/>
          <p:nvPr/>
        </p:nvSpPr>
        <p:spPr>
          <a:xfrm>
            <a:off x="762000" y="4892040"/>
            <a:ext cx="390144" cy="22860"/>
          </a:xfrm>
          <a:prstGeom prst="rect">
            <a:avLst/>
          </a:prstGeom>
          <a:solidFill>
            <a:srgbClr val="01C5FD"/>
          </a:solidFill>
          <a:ln/>
        </p:spPr>
      </p:sp>
      <p:sp>
        <p:nvSpPr>
          <p:cNvPr id="66" name="Shape 64"/>
          <p:cNvSpPr/>
          <p:nvPr/>
        </p:nvSpPr>
        <p:spPr>
          <a:xfrm>
            <a:off x="1143000" y="4892040"/>
            <a:ext cx="390144" cy="22860"/>
          </a:xfrm>
          <a:prstGeom prst="rect">
            <a:avLst/>
          </a:prstGeom>
          <a:solidFill>
            <a:srgbClr val="02C0FC"/>
          </a:solidFill>
          <a:ln/>
        </p:spPr>
      </p:sp>
      <p:sp>
        <p:nvSpPr>
          <p:cNvPr id="67" name="Shape 65"/>
          <p:cNvSpPr/>
          <p:nvPr/>
        </p:nvSpPr>
        <p:spPr>
          <a:xfrm>
            <a:off x="1524000" y="4892040"/>
            <a:ext cx="390144" cy="22860"/>
          </a:xfrm>
          <a:prstGeom prst="rect">
            <a:avLst/>
          </a:prstGeom>
          <a:solidFill>
            <a:srgbClr val="03BCFB"/>
          </a:solidFill>
          <a:ln/>
        </p:spPr>
      </p:sp>
      <p:sp>
        <p:nvSpPr>
          <p:cNvPr id="68" name="Shape 66"/>
          <p:cNvSpPr/>
          <p:nvPr/>
        </p:nvSpPr>
        <p:spPr>
          <a:xfrm>
            <a:off x="1905000" y="4892040"/>
            <a:ext cx="390144" cy="22860"/>
          </a:xfrm>
          <a:prstGeom prst="rect">
            <a:avLst/>
          </a:prstGeom>
          <a:solidFill>
            <a:srgbClr val="03B7FA"/>
          </a:solidFill>
          <a:ln/>
        </p:spPr>
      </p:sp>
      <p:sp>
        <p:nvSpPr>
          <p:cNvPr id="69" name="Shape 67"/>
          <p:cNvSpPr/>
          <p:nvPr/>
        </p:nvSpPr>
        <p:spPr>
          <a:xfrm>
            <a:off x="2286000" y="4892040"/>
            <a:ext cx="390144" cy="22860"/>
          </a:xfrm>
          <a:prstGeom prst="rect">
            <a:avLst/>
          </a:prstGeom>
          <a:solidFill>
            <a:srgbClr val="04B2F9"/>
          </a:solidFill>
          <a:ln/>
        </p:spPr>
      </p:sp>
      <p:sp>
        <p:nvSpPr>
          <p:cNvPr id="70" name="Shape 68"/>
          <p:cNvSpPr/>
          <p:nvPr/>
        </p:nvSpPr>
        <p:spPr>
          <a:xfrm>
            <a:off x="2667000" y="4892040"/>
            <a:ext cx="390144" cy="22860"/>
          </a:xfrm>
          <a:prstGeom prst="rect">
            <a:avLst/>
          </a:prstGeom>
          <a:solidFill>
            <a:srgbClr val="04ADF8"/>
          </a:solidFill>
          <a:ln/>
        </p:spPr>
      </p:sp>
      <p:sp>
        <p:nvSpPr>
          <p:cNvPr id="71" name="Shape 69"/>
          <p:cNvSpPr/>
          <p:nvPr/>
        </p:nvSpPr>
        <p:spPr>
          <a:xfrm>
            <a:off x="3048000" y="4892040"/>
            <a:ext cx="390144" cy="22860"/>
          </a:xfrm>
          <a:prstGeom prst="rect">
            <a:avLst/>
          </a:prstGeom>
          <a:solidFill>
            <a:srgbClr val="05A8F7"/>
          </a:solidFill>
          <a:ln/>
        </p:spPr>
      </p:sp>
      <p:sp>
        <p:nvSpPr>
          <p:cNvPr id="72" name="Shape 70"/>
          <p:cNvSpPr/>
          <p:nvPr/>
        </p:nvSpPr>
        <p:spPr>
          <a:xfrm>
            <a:off x="3429000" y="4892040"/>
            <a:ext cx="390144" cy="22860"/>
          </a:xfrm>
          <a:prstGeom prst="rect">
            <a:avLst/>
          </a:prstGeom>
          <a:solidFill>
            <a:srgbClr val="06A3F6"/>
          </a:solidFill>
          <a:ln/>
        </p:spPr>
      </p:sp>
      <p:sp>
        <p:nvSpPr>
          <p:cNvPr id="73" name="Shape 71"/>
          <p:cNvSpPr/>
          <p:nvPr/>
        </p:nvSpPr>
        <p:spPr>
          <a:xfrm>
            <a:off x="3810000" y="4892040"/>
            <a:ext cx="390144" cy="22860"/>
          </a:xfrm>
          <a:prstGeom prst="rect">
            <a:avLst/>
          </a:prstGeom>
          <a:solidFill>
            <a:srgbClr val="069EF5"/>
          </a:solidFill>
          <a:ln/>
        </p:spPr>
      </p:sp>
      <p:sp>
        <p:nvSpPr>
          <p:cNvPr id="74" name="Shape 72"/>
          <p:cNvSpPr/>
          <p:nvPr/>
        </p:nvSpPr>
        <p:spPr>
          <a:xfrm>
            <a:off x="4191000" y="4892040"/>
            <a:ext cx="390144" cy="22860"/>
          </a:xfrm>
          <a:prstGeom prst="rect">
            <a:avLst/>
          </a:prstGeom>
          <a:solidFill>
            <a:srgbClr val="0799F4"/>
          </a:solidFill>
          <a:ln/>
        </p:spPr>
      </p:sp>
      <p:sp>
        <p:nvSpPr>
          <p:cNvPr id="75" name="Shape 73"/>
          <p:cNvSpPr/>
          <p:nvPr/>
        </p:nvSpPr>
        <p:spPr>
          <a:xfrm>
            <a:off x="4572000" y="4892040"/>
            <a:ext cx="390144" cy="22860"/>
          </a:xfrm>
          <a:prstGeom prst="rect">
            <a:avLst/>
          </a:prstGeom>
          <a:solidFill>
            <a:srgbClr val="0895F4"/>
          </a:solidFill>
          <a:ln/>
        </p:spPr>
      </p:sp>
      <p:sp>
        <p:nvSpPr>
          <p:cNvPr id="76" name="Shape 74"/>
          <p:cNvSpPr/>
          <p:nvPr/>
        </p:nvSpPr>
        <p:spPr>
          <a:xfrm>
            <a:off x="4953000" y="4892040"/>
            <a:ext cx="390144" cy="22860"/>
          </a:xfrm>
          <a:prstGeom prst="rect">
            <a:avLst/>
          </a:prstGeom>
          <a:solidFill>
            <a:srgbClr val="0890F3"/>
          </a:solidFill>
          <a:ln/>
        </p:spPr>
      </p:sp>
      <p:sp>
        <p:nvSpPr>
          <p:cNvPr id="77" name="Shape 75"/>
          <p:cNvSpPr/>
          <p:nvPr/>
        </p:nvSpPr>
        <p:spPr>
          <a:xfrm>
            <a:off x="5334000" y="4892040"/>
            <a:ext cx="390144" cy="22860"/>
          </a:xfrm>
          <a:prstGeom prst="rect">
            <a:avLst/>
          </a:prstGeom>
          <a:solidFill>
            <a:srgbClr val="098BF2"/>
          </a:solidFill>
          <a:ln/>
        </p:spPr>
      </p:sp>
      <p:sp>
        <p:nvSpPr>
          <p:cNvPr id="78" name="Shape 76"/>
          <p:cNvSpPr/>
          <p:nvPr/>
        </p:nvSpPr>
        <p:spPr>
          <a:xfrm>
            <a:off x="5715000" y="4892040"/>
            <a:ext cx="390144" cy="22860"/>
          </a:xfrm>
          <a:prstGeom prst="rect">
            <a:avLst/>
          </a:prstGeom>
          <a:solidFill>
            <a:srgbClr val="0986F1"/>
          </a:solidFill>
          <a:ln/>
        </p:spPr>
      </p:sp>
      <p:sp>
        <p:nvSpPr>
          <p:cNvPr id="79" name="Shape 77"/>
          <p:cNvSpPr/>
          <p:nvPr/>
        </p:nvSpPr>
        <p:spPr>
          <a:xfrm>
            <a:off x="6096000" y="4892040"/>
            <a:ext cx="390144" cy="22860"/>
          </a:xfrm>
          <a:prstGeom prst="rect">
            <a:avLst/>
          </a:prstGeom>
          <a:solidFill>
            <a:srgbClr val="0A81F0"/>
          </a:solidFill>
          <a:ln/>
        </p:spPr>
      </p:sp>
      <p:sp>
        <p:nvSpPr>
          <p:cNvPr id="80" name="Shape 78"/>
          <p:cNvSpPr/>
          <p:nvPr/>
        </p:nvSpPr>
        <p:spPr>
          <a:xfrm>
            <a:off x="6477000" y="4892040"/>
            <a:ext cx="390144" cy="22860"/>
          </a:xfrm>
          <a:prstGeom prst="rect">
            <a:avLst/>
          </a:prstGeom>
          <a:solidFill>
            <a:srgbClr val="0B7CEF"/>
          </a:solidFill>
          <a:ln/>
        </p:spPr>
      </p:sp>
      <p:sp>
        <p:nvSpPr>
          <p:cNvPr id="81" name="Shape 79"/>
          <p:cNvSpPr/>
          <p:nvPr/>
        </p:nvSpPr>
        <p:spPr>
          <a:xfrm>
            <a:off x="6858000" y="4892040"/>
            <a:ext cx="390144" cy="22860"/>
          </a:xfrm>
          <a:prstGeom prst="rect">
            <a:avLst/>
          </a:prstGeom>
          <a:solidFill>
            <a:srgbClr val="0B77EE"/>
          </a:solidFill>
          <a:ln/>
        </p:spPr>
      </p:sp>
      <p:sp>
        <p:nvSpPr>
          <p:cNvPr id="82" name="Shape 80"/>
          <p:cNvSpPr/>
          <p:nvPr/>
        </p:nvSpPr>
        <p:spPr>
          <a:xfrm>
            <a:off x="7239000" y="4892040"/>
            <a:ext cx="390144" cy="22860"/>
          </a:xfrm>
          <a:prstGeom prst="rect">
            <a:avLst/>
          </a:prstGeom>
          <a:solidFill>
            <a:srgbClr val="0C72ED"/>
          </a:solidFill>
          <a:ln/>
        </p:spPr>
      </p:sp>
      <p:sp>
        <p:nvSpPr>
          <p:cNvPr id="83" name="Shape 81"/>
          <p:cNvSpPr/>
          <p:nvPr/>
        </p:nvSpPr>
        <p:spPr>
          <a:xfrm>
            <a:off x="7620000" y="4892040"/>
            <a:ext cx="390144" cy="22860"/>
          </a:xfrm>
          <a:prstGeom prst="rect">
            <a:avLst/>
          </a:prstGeom>
          <a:solidFill>
            <a:srgbClr val="0D6EEC"/>
          </a:solidFill>
          <a:ln/>
        </p:spPr>
      </p:sp>
      <p:sp>
        <p:nvSpPr>
          <p:cNvPr id="84" name="Shape 82"/>
          <p:cNvSpPr/>
          <p:nvPr/>
        </p:nvSpPr>
        <p:spPr>
          <a:xfrm>
            <a:off x="8001000" y="4892040"/>
            <a:ext cx="390144" cy="22860"/>
          </a:xfrm>
          <a:prstGeom prst="rect">
            <a:avLst/>
          </a:prstGeom>
          <a:solidFill>
            <a:srgbClr val="0D69EB"/>
          </a:solidFill>
          <a:ln/>
        </p:spPr>
      </p:sp>
      <p:sp>
        <p:nvSpPr>
          <p:cNvPr id="85" name="Shape 83"/>
          <p:cNvSpPr/>
          <p:nvPr/>
        </p:nvSpPr>
        <p:spPr>
          <a:xfrm>
            <a:off x="8382000" y="4892040"/>
            <a:ext cx="390144" cy="22860"/>
          </a:xfrm>
          <a:prstGeom prst="rect">
            <a:avLst/>
          </a:prstGeom>
          <a:solidFill>
            <a:srgbClr val="0E64EA"/>
          </a:solidFill>
          <a:ln/>
        </p:spPr>
      </p:sp>
      <p:sp>
        <p:nvSpPr>
          <p:cNvPr id="86" name="Shape 84"/>
          <p:cNvSpPr/>
          <p:nvPr/>
        </p:nvSpPr>
        <p:spPr>
          <a:xfrm>
            <a:off x="8763000" y="4892040"/>
            <a:ext cx="390144" cy="22860"/>
          </a:xfrm>
          <a:prstGeom prst="rect">
            <a:avLst/>
          </a:prstGeom>
          <a:solidFill>
            <a:srgbClr val="0E5FE9"/>
          </a:solidFill>
          <a:ln/>
        </p:spPr>
      </p:sp>
      <p:sp>
        <p:nvSpPr>
          <p:cNvPr id="87" name="Shape 85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80D15"/>
          </a:solidFill>
          <a:ln/>
        </p:spPr>
      </p:sp>
      <p:sp>
        <p:nvSpPr>
          <p:cNvPr id="88" name="Text 86"/>
          <p:cNvSpPr/>
          <p:nvPr/>
        </p:nvSpPr>
        <p:spPr>
          <a:xfrm>
            <a:off x="0" y="4910328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80" kern="0" dirty="0">
                <a:solidFill>
                  <a:srgbClr val="3F60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Cryptoboy_777  ·  0G Bridge Buildathon  ·  AKINDO  ·  #0GBridge #BuildOn0G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CreditFi — Wave 1 · 0G Bridge Buildathon</dc:title>
  <dc:subject>PptxGenJS Presentation</dc:subject>
  <dc:creator>Cryptoboy_777</dc:creator>
  <cp:lastModifiedBy>Cryptoboy_777</cp:lastModifiedBy>
  <cp:revision>1</cp:revision>
  <dcterms:created xsi:type="dcterms:W3CDTF">2026-06-13T01:48:20Z</dcterms:created>
  <dcterms:modified xsi:type="dcterms:W3CDTF">2026-06-13T01:48:20Z</dcterms:modified>
</cp:coreProperties>
</file>